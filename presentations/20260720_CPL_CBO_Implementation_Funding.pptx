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 — the charge]</a:t>
            </a:r>
          </a:p>
          <a:p>
            <a:r>
              <a:t>Colleagues, here's what the one-time implementation funds are for. SB 135 and AB 135 establish Credit for Prior Learning as a systemwide initiative under the Master Plan for Career Education — and with that come new duties at every college: evaluate the prior learning and credentials of incoming students, adopt the credit recommendations our faculty discipline groups develop statewide, and accept CPL that students earned at another community college so the credit travels with them.</a:t>
            </a:r>
          </a:p>
          <a:p>
            <a:r>
              <a:t>The one-time funds help you stand that up locally — staffing, faculty engagement, student outreach, technology, employer partnerships, and room to innovate on new and stackable pathways. The key distinction for your planning: one-time dollars build local capacity; the ongoing dollars sustain the shared statewide backbone — the technology and the faculty credit recommendations you all draw on — so this isn't a cliff.</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 — the three priorities]</a:t>
            </a:r>
          </a:p>
          <a:p>
            <a:r>
              <a:t>The Draft Implementation Funding model is outcomes-based — your college earns its share on measured CPL results, reflecting the statute's goal of advancing career attainment. There are three priorities.</a:t>
            </a:r>
          </a:p>
          <a:p>
            <a:r>
              <a:t>Priority 1, Completion — growing certificate and degree completion, and career attainment, through CPL awards. Priority 2, Access — reaching and enrolling more students through CPL and making it visible and accessible. Priority 3, Capacity and Mobility — building durable CPL that's documentable, interoperable, and portable across colleges and up to CSU and UC.</a:t>
            </a:r>
          </a:p>
          <a:p>
            <a:r>
              <a:t>I want to be clear this is a draft: the specific weighting and dollar allocations are still being worked out with the field. The framework — these three priorities — is what's settled, and that's what I'm sharing today.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 — guiding principles]</a:t>
            </a:r>
          </a:p>
          <a:p>
            <a:r>
              <a:t>Finally, the principles the model is built on — this is really the fiscal design you'll care about. It's outcomes-based, so funding follows results. It's equitable and inclusive: a minimum-viable floor so even a small college can stand up a real program, a rural-college allowance, and support for our noncredit feeder institutions. It's transparent and predictable — one published model where you can see how your allocation is derived. It's sustainable — one-time to build, ongoing to sustain. It's systemwide and portable — credit earned once travels. And it's faculty-driven and student-centered — faculty own the academic judgment, and students are proactively identified and served.</a:t>
            </a:r>
          </a:p>
          <a:p>
            <a:r>
              <a:t>Happy to take questions on any of this.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57200"/>
            <a:ext cx="11064240" cy="320040"/>
          </a:xfrm>
          <a:prstGeom prst="rect">
            <a:avLst/>
          </a:prstGeom>
          <a:noFill/>
        </p:spPr>
        <p:txBody>
          <a:bodyPr wrap="square" anchor="t" lIns="0" rIns="0" tIns="0" bIns="0">
            <a:spAutoFit/>
          </a:bodyPr>
          <a:lstStyle/>
          <a:p>
            <a:pPr algn="l">
              <a:lnSpc>
                <a:spcPct val="100000"/>
              </a:lnSpc>
              <a:spcBef>
                <a:spcPts val="0"/>
              </a:spcBef>
              <a:spcAft>
                <a:spcPts val="400"/>
              </a:spcAft>
            </a:pPr>
            <a:r>
              <a:rPr sz="1250" b="1" i="0">
                <a:solidFill>
                  <a:srgbClr val="1D5C9E"/>
                </a:solidFill>
                <a:latin typeface="Calibri"/>
              </a:rPr>
              <a:t>$35M ONE-TIME · LOCAL COLLEGE IMPLEMENTATION</a:t>
            </a:r>
          </a:p>
        </p:txBody>
      </p:sp>
      <p:sp>
        <p:nvSpPr>
          <p:cNvPr id="4" name="TextBox 3"/>
          <p:cNvSpPr txBox="1"/>
          <p:nvPr/>
        </p:nvSpPr>
        <p:spPr>
          <a:xfrm>
            <a:off x="548640" y="841247"/>
            <a:ext cx="11064240" cy="914400"/>
          </a:xfrm>
          <a:prstGeom prst="rect">
            <a:avLst/>
          </a:prstGeom>
          <a:noFill/>
        </p:spPr>
        <p:txBody>
          <a:bodyPr wrap="square" anchor="t" lIns="0" rIns="0" tIns="0" bIns="0">
            <a:spAutoFit/>
          </a:bodyPr>
          <a:lstStyle/>
          <a:p>
            <a:pPr algn="l">
              <a:lnSpc>
                <a:spcPct val="98000"/>
              </a:lnSpc>
              <a:spcBef>
                <a:spcPts val="0"/>
              </a:spcBef>
              <a:spcAft>
                <a:spcPts val="0"/>
              </a:spcAft>
            </a:pPr>
            <a:r>
              <a:rPr sz="2900" b="1" i="0">
                <a:solidFill>
                  <a:srgbClr val="153763"/>
                </a:solidFill>
                <a:latin typeface="Cambria"/>
              </a:rPr>
              <a:t>Standing Up CPL at Every College</a:t>
            </a:r>
          </a:p>
        </p:txBody>
      </p:sp>
      <p:sp>
        <p:nvSpPr>
          <p:cNvPr id="5" name="Rectangle 4"/>
          <p:cNvSpPr/>
          <p:nvPr/>
        </p:nvSpPr>
        <p:spPr>
          <a:xfrm>
            <a:off x="566928" y="1408176"/>
            <a:ext cx="1554480" cy="54864"/>
          </a:xfrm>
          <a:prstGeom prst="rect">
            <a:avLst/>
          </a:prstGeom>
          <a:solidFill>
            <a:srgbClr val="E8A3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783080"/>
            <a:ext cx="11064240" cy="457200"/>
          </a:xfrm>
          <a:prstGeom prst="rect">
            <a:avLst/>
          </a:prstGeom>
          <a:noFill/>
        </p:spPr>
        <p:txBody>
          <a:bodyPr wrap="square" anchor="t" lIns="0" rIns="0" tIns="0" bIns="0">
            <a:spAutoFit/>
          </a:bodyPr>
          <a:lstStyle/>
          <a:p>
            <a:pPr algn="l">
              <a:lnSpc>
                <a:spcPct val="100000"/>
              </a:lnSpc>
              <a:spcBef>
                <a:spcPts val="0"/>
              </a:spcBef>
              <a:spcAft>
                <a:spcPts val="400"/>
              </a:spcAft>
            </a:pPr>
            <a:r>
              <a:rPr sz="1450" b="0" i="1">
                <a:solidFill>
                  <a:srgbClr val="556372"/>
                </a:solidFill>
                <a:latin typeface="Calibri"/>
              </a:rPr>
              <a:t>SB 135 / AB 135 establishes CPL as a </a:t>
            </a:r>
            <a:r>
              <a:rPr sz="1450" b="1" i="0">
                <a:solidFill>
                  <a:srgbClr val="153763"/>
                </a:solidFill>
                <a:latin typeface="Calibri"/>
              </a:rPr>
              <a:t>systemwide initiative</a:t>
            </a:r>
            <a:r>
              <a:rPr sz="1450" b="0" i="1">
                <a:solidFill>
                  <a:srgbClr val="556372"/>
                </a:solidFill>
                <a:latin typeface="Calibri"/>
              </a:rPr>
              <a:t> under the Master Plan for Career Education. One-time funds help each college build local capacity to meet new duties.</a:t>
            </a:r>
          </a:p>
        </p:txBody>
      </p:sp>
      <p:sp>
        <p:nvSpPr>
          <p:cNvPr id="7" name="Rounded Rectangle 6"/>
          <p:cNvSpPr/>
          <p:nvPr/>
        </p:nvSpPr>
        <p:spPr>
          <a:xfrm>
            <a:off x="548640" y="2468880"/>
            <a:ext cx="5285232" cy="2743200"/>
          </a:xfrm>
          <a:prstGeom prst="roundRect">
            <a:avLst/>
          </a:prstGeom>
          <a:solidFill>
            <a:srgbClr val="EEF3F9"/>
          </a:solidFill>
          <a:ln w="12700">
            <a:solidFill>
              <a:srgbClr val="D5DF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355080" y="2468880"/>
            <a:ext cx="5285232" cy="2743200"/>
          </a:xfrm>
          <a:prstGeom prst="roundRect">
            <a:avLst/>
          </a:prstGeom>
          <a:solidFill>
            <a:srgbClr val="EEF3F9"/>
          </a:solidFill>
          <a:ln w="12700">
            <a:solidFill>
              <a:srgbClr val="D5DF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468880"/>
            <a:ext cx="5285232" cy="91440"/>
          </a:xfrm>
          <a:prstGeom prst="rect">
            <a:avLst/>
          </a:prstGeom>
          <a:solidFill>
            <a:srgbClr val="1D5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355080" y="2468880"/>
            <a:ext cx="5285232" cy="91440"/>
          </a:xfrm>
          <a:prstGeom prst="rect">
            <a:avLst/>
          </a:prstGeom>
          <a:solidFill>
            <a:srgbClr val="E8A3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2761488"/>
            <a:ext cx="4736592" cy="365760"/>
          </a:xfrm>
          <a:prstGeom prst="rect">
            <a:avLst/>
          </a:prstGeom>
          <a:noFill/>
        </p:spPr>
        <p:txBody>
          <a:bodyPr wrap="square" anchor="t" lIns="0" rIns="0" tIns="0" bIns="0">
            <a:spAutoFit/>
          </a:bodyPr>
          <a:lstStyle/>
          <a:p>
            <a:pPr algn="l">
              <a:lnSpc>
                <a:spcPct val="100000"/>
              </a:lnSpc>
              <a:spcBef>
                <a:spcPts val="0"/>
              </a:spcBef>
              <a:spcAft>
                <a:spcPts val="400"/>
              </a:spcAft>
            </a:pPr>
            <a:r>
              <a:rPr sz="1550" b="1" i="0">
                <a:solidFill>
                  <a:srgbClr val="153763"/>
                </a:solidFill>
                <a:latin typeface="Calibri"/>
              </a:rPr>
              <a:t>What colleges now do</a:t>
            </a:r>
          </a:p>
        </p:txBody>
      </p:sp>
      <p:sp>
        <p:nvSpPr>
          <p:cNvPr id="12" name="Oval 11"/>
          <p:cNvSpPr/>
          <p:nvPr/>
        </p:nvSpPr>
        <p:spPr>
          <a:xfrm>
            <a:off x="886968" y="3273552"/>
            <a:ext cx="146304" cy="146304"/>
          </a:xfrm>
          <a:prstGeom prst="ellipse">
            <a:avLst/>
          </a:prstGeom>
          <a:solidFill>
            <a:srgbClr val="1D5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61288" y="3200400"/>
            <a:ext cx="4425696" cy="548640"/>
          </a:xfrm>
          <a:prstGeom prst="rect">
            <a:avLst/>
          </a:prstGeom>
          <a:noFill/>
        </p:spPr>
        <p:txBody>
          <a:bodyPr wrap="square" anchor="t" lIns="0" rIns="0" tIns="0" bIns="0">
            <a:spAutoFit/>
          </a:bodyPr>
          <a:lstStyle/>
          <a:p>
            <a:pPr algn="l">
              <a:lnSpc>
                <a:spcPct val="103000"/>
              </a:lnSpc>
              <a:spcBef>
                <a:spcPts val="0"/>
              </a:spcBef>
              <a:spcAft>
                <a:spcPts val="400"/>
              </a:spcAft>
            </a:pPr>
            <a:r>
              <a:rPr sz="1350" b="0" i="0">
                <a:solidFill>
                  <a:srgbClr val="222A33"/>
                </a:solidFill>
                <a:latin typeface="Calibri"/>
              </a:rPr>
              <a:t>Evaluate incoming students’ prior learning &amp; credentials for credit</a:t>
            </a:r>
          </a:p>
        </p:txBody>
      </p:sp>
      <p:sp>
        <p:nvSpPr>
          <p:cNvPr id="14" name="Oval 13"/>
          <p:cNvSpPr/>
          <p:nvPr/>
        </p:nvSpPr>
        <p:spPr>
          <a:xfrm>
            <a:off x="886968" y="3803903"/>
            <a:ext cx="146304" cy="146304"/>
          </a:xfrm>
          <a:prstGeom prst="ellipse">
            <a:avLst/>
          </a:prstGeom>
          <a:solidFill>
            <a:srgbClr val="1D5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161288" y="3730752"/>
            <a:ext cx="4425696" cy="548640"/>
          </a:xfrm>
          <a:prstGeom prst="rect">
            <a:avLst/>
          </a:prstGeom>
          <a:noFill/>
        </p:spPr>
        <p:txBody>
          <a:bodyPr wrap="square" anchor="t" lIns="0" rIns="0" tIns="0" bIns="0">
            <a:spAutoFit/>
          </a:bodyPr>
          <a:lstStyle/>
          <a:p>
            <a:pPr algn="l">
              <a:lnSpc>
                <a:spcPct val="103000"/>
              </a:lnSpc>
              <a:spcBef>
                <a:spcPts val="0"/>
              </a:spcBef>
              <a:spcAft>
                <a:spcPts val="400"/>
              </a:spcAft>
            </a:pPr>
            <a:r>
              <a:rPr sz="1350" b="0" i="0">
                <a:solidFill>
                  <a:srgbClr val="222A33"/>
                </a:solidFill>
                <a:latin typeface="Calibri"/>
              </a:rPr>
              <a:t>Adopt faculty-developed statewide credit recommendations</a:t>
            </a:r>
          </a:p>
        </p:txBody>
      </p:sp>
      <p:sp>
        <p:nvSpPr>
          <p:cNvPr id="16" name="Oval 15"/>
          <p:cNvSpPr/>
          <p:nvPr/>
        </p:nvSpPr>
        <p:spPr>
          <a:xfrm>
            <a:off x="886968" y="4334255"/>
            <a:ext cx="146304" cy="146304"/>
          </a:xfrm>
          <a:prstGeom prst="ellipse">
            <a:avLst/>
          </a:prstGeom>
          <a:solidFill>
            <a:srgbClr val="1D5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161288" y="4261104"/>
            <a:ext cx="4425696" cy="548640"/>
          </a:xfrm>
          <a:prstGeom prst="rect">
            <a:avLst/>
          </a:prstGeom>
          <a:noFill/>
        </p:spPr>
        <p:txBody>
          <a:bodyPr wrap="square" anchor="t" lIns="0" rIns="0" tIns="0" bIns="0">
            <a:spAutoFit/>
          </a:bodyPr>
          <a:lstStyle/>
          <a:p>
            <a:pPr algn="l">
              <a:lnSpc>
                <a:spcPct val="103000"/>
              </a:lnSpc>
              <a:spcBef>
                <a:spcPts val="0"/>
              </a:spcBef>
              <a:spcAft>
                <a:spcPts val="400"/>
              </a:spcAft>
            </a:pPr>
            <a:r>
              <a:rPr sz="1350" b="0" i="0">
                <a:solidFill>
                  <a:srgbClr val="222A33"/>
                </a:solidFill>
                <a:latin typeface="Calibri"/>
              </a:rPr>
              <a:t>Accept transcribed CPL from other colleges — credit that travels</a:t>
            </a:r>
          </a:p>
        </p:txBody>
      </p:sp>
      <p:sp>
        <p:nvSpPr>
          <p:cNvPr id="18" name="Oval 17"/>
          <p:cNvSpPr/>
          <p:nvPr/>
        </p:nvSpPr>
        <p:spPr>
          <a:xfrm>
            <a:off x="886968" y="4864607"/>
            <a:ext cx="146304" cy="146304"/>
          </a:xfrm>
          <a:prstGeom prst="ellipse">
            <a:avLst/>
          </a:prstGeom>
          <a:solidFill>
            <a:srgbClr val="1D5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161288" y="4791456"/>
            <a:ext cx="4425696" cy="548640"/>
          </a:xfrm>
          <a:prstGeom prst="rect">
            <a:avLst/>
          </a:prstGeom>
          <a:noFill/>
        </p:spPr>
        <p:txBody>
          <a:bodyPr wrap="square" anchor="t" lIns="0" rIns="0" tIns="0" bIns="0">
            <a:spAutoFit/>
          </a:bodyPr>
          <a:lstStyle/>
          <a:p>
            <a:pPr algn="l">
              <a:lnSpc>
                <a:spcPct val="103000"/>
              </a:lnSpc>
              <a:spcBef>
                <a:spcPts val="0"/>
              </a:spcBef>
              <a:spcAft>
                <a:spcPts val="400"/>
              </a:spcAft>
            </a:pPr>
            <a:r>
              <a:rPr sz="1350" b="0" i="0">
                <a:solidFill>
                  <a:srgbClr val="222A33"/>
                </a:solidFill>
                <a:latin typeface="Calibri"/>
              </a:rPr>
              <a:t>Build local capacity: people, processes &amp; technology</a:t>
            </a:r>
          </a:p>
        </p:txBody>
      </p:sp>
      <p:sp>
        <p:nvSpPr>
          <p:cNvPr id="20" name="TextBox 19"/>
          <p:cNvSpPr txBox="1"/>
          <p:nvPr/>
        </p:nvSpPr>
        <p:spPr>
          <a:xfrm>
            <a:off x="6675120" y="2761488"/>
            <a:ext cx="4736592" cy="365760"/>
          </a:xfrm>
          <a:prstGeom prst="rect">
            <a:avLst/>
          </a:prstGeom>
          <a:noFill/>
        </p:spPr>
        <p:txBody>
          <a:bodyPr wrap="square" anchor="t" lIns="0" rIns="0" tIns="0" bIns="0">
            <a:spAutoFit/>
          </a:bodyPr>
          <a:lstStyle/>
          <a:p>
            <a:pPr algn="l">
              <a:lnSpc>
                <a:spcPct val="100000"/>
              </a:lnSpc>
              <a:spcBef>
                <a:spcPts val="0"/>
              </a:spcBef>
              <a:spcAft>
                <a:spcPts val="400"/>
              </a:spcAft>
            </a:pPr>
            <a:r>
              <a:rPr sz="1550" b="1" i="0">
                <a:solidFill>
                  <a:srgbClr val="153763"/>
                </a:solidFill>
                <a:latin typeface="Calibri"/>
              </a:rPr>
              <a:t>What the funds seed</a:t>
            </a:r>
          </a:p>
        </p:txBody>
      </p:sp>
      <p:sp>
        <p:nvSpPr>
          <p:cNvPr id="21" name="Oval 20"/>
          <p:cNvSpPr/>
          <p:nvPr/>
        </p:nvSpPr>
        <p:spPr>
          <a:xfrm>
            <a:off x="6693407" y="3273552"/>
            <a:ext cx="146304" cy="146304"/>
          </a:xfrm>
          <a:prstGeom prst="ellipse">
            <a:avLst/>
          </a:prstGeom>
          <a:solidFill>
            <a:srgbClr val="E8A3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967728" y="3200400"/>
            <a:ext cx="4425696" cy="548640"/>
          </a:xfrm>
          <a:prstGeom prst="rect">
            <a:avLst/>
          </a:prstGeom>
          <a:noFill/>
        </p:spPr>
        <p:txBody>
          <a:bodyPr wrap="square" anchor="t" lIns="0" rIns="0" tIns="0" bIns="0">
            <a:spAutoFit/>
          </a:bodyPr>
          <a:lstStyle/>
          <a:p>
            <a:pPr algn="l">
              <a:lnSpc>
                <a:spcPct val="103000"/>
              </a:lnSpc>
              <a:spcBef>
                <a:spcPts val="0"/>
              </a:spcBef>
              <a:spcAft>
                <a:spcPts val="400"/>
              </a:spcAft>
            </a:pPr>
            <a:r>
              <a:rPr sz="1350" b="0" i="0">
                <a:solidFill>
                  <a:srgbClr val="222A33"/>
                </a:solidFill>
                <a:latin typeface="Calibri"/>
              </a:rPr>
              <a:t>Dedicated CPL staffing &amp; faculty engagement</a:t>
            </a:r>
          </a:p>
        </p:txBody>
      </p:sp>
      <p:sp>
        <p:nvSpPr>
          <p:cNvPr id="23" name="Oval 22"/>
          <p:cNvSpPr/>
          <p:nvPr/>
        </p:nvSpPr>
        <p:spPr>
          <a:xfrm>
            <a:off x="6693407" y="3584448"/>
            <a:ext cx="146304" cy="146304"/>
          </a:xfrm>
          <a:prstGeom prst="ellipse">
            <a:avLst/>
          </a:prstGeom>
          <a:solidFill>
            <a:srgbClr val="E8A3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967728" y="3511296"/>
            <a:ext cx="4425696" cy="548640"/>
          </a:xfrm>
          <a:prstGeom prst="rect">
            <a:avLst/>
          </a:prstGeom>
          <a:noFill/>
        </p:spPr>
        <p:txBody>
          <a:bodyPr wrap="square" anchor="t" lIns="0" rIns="0" tIns="0" bIns="0">
            <a:spAutoFit/>
          </a:bodyPr>
          <a:lstStyle/>
          <a:p>
            <a:pPr algn="l">
              <a:lnSpc>
                <a:spcPct val="103000"/>
              </a:lnSpc>
              <a:spcBef>
                <a:spcPts val="0"/>
              </a:spcBef>
              <a:spcAft>
                <a:spcPts val="400"/>
              </a:spcAft>
            </a:pPr>
            <a:r>
              <a:rPr sz="1350" b="0" i="0">
                <a:solidFill>
                  <a:srgbClr val="222A33"/>
                </a:solidFill>
                <a:latin typeface="Calibri"/>
              </a:rPr>
              <a:t>Student identification, outreach &amp; advising</a:t>
            </a:r>
          </a:p>
        </p:txBody>
      </p:sp>
      <p:sp>
        <p:nvSpPr>
          <p:cNvPr id="25" name="Oval 24"/>
          <p:cNvSpPr/>
          <p:nvPr/>
        </p:nvSpPr>
        <p:spPr>
          <a:xfrm>
            <a:off x="6693407" y="3895344"/>
            <a:ext cx="146304" cy="146304"/>
          </a:xfrm>
          <a:prstGeom prst="ellipse">
            <a:avLst/>
          </a:prstGeom>
          <a:solidFill>
            <a:srgbClr val="E8A3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967728" y="3822192"/>
            <a:ext cx="4425696" cy="548640"/>
          </a:xfrm>
          <a:prstGeom prst="rect">
            <a:avLst/>
          </a:prstGeom>
          <a:noFill/>
        </p:spPr>
        <p:txBody>
          <a:bodyPr wrap="square" anchor="t" lIns="0" rIns="0" tIns="0" bIns="0">
            <a:spAutoFit/>
          </a:bodyPr>
          <a:lstStyle/>
          <a:p>
            <a:pPr algn="l">
              <a:lnSpc>
                <a:spcPct val="103000"/>
              </a:lnSpc>
              <a:spcBef>
                <a:spcPts val="0"/>
              </a:spcBef>
              <a:spcAft>
                <a:spcPts val="400"/>
              </a:spcAft>
            </a:pPr>
            <a:r>
              <a:rPr sz="1350" b="0" i="0">
                <a:solidFill>
                  <a:srgbClr val="222A33"/>
                </a:solidFill>
                <a:latin typeface="Calibri"/>
              </a:rPr>
              <a:t>Employer &amp; industry partnerships</a:t>
            </a:r>
          </a:p>
        </p:txBody>
      </p:sp>
      <p:sp>
        <p:nvSpPr>
          <p:cNvPr id="27" name="Oval 26"/>
          <p:cNvSpPr/>
          <p:nvPr/>
        </p:nvSpPr>
        <p:spPr>
          <a:xfrm>
            <a:off x="6693407" y="4206240"/>
            <a:ext cx="146304" cy="146304"/>
          </a:xfrm>
          <a:prstGeom prst="ellipse">
            <a:avLst/>
          </a:prstGeom>
          <a:solidFill>
            <a:srgbClr val="E8A3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967728" y="4133088"/>
            <a:ext cx="4425696" cy="548640"/>
          </a:xfrm>
          <a:prstGeom prst="rect">
            <a:avLst/>
          </a:prstGeom>
          <a:noFill/>
        </p:spPr>
        <p:txBody>
          <a:bodyPr wrap="square" anchor="t" lIns="0" rIns="0" tIns="0" bIns="0">
            <a:spAutoFit/>
          </a:bodyPr>
          <a:lstStyle/>
          <a:p>
            <a:pPr algn="l">
              <a:lnSpc>
                <a:spcPct val="103000"/>
              </a:lnSpc>
              <a:spcBef>
                <a:spcPts val="0"/>
              </a:spcBef>
              <a:spcAft>
                <a:spcPts val="400"/>
              </a:spcAft>
            </a:pPr>
            <a:r>
              <a:rPr sz="1350" b="0" i="0">
                <a:solidFill>
                  <a:srgbClr val="222A33"/>
                </a:solidFill>
                <a:latin typeface="Calibri"/>
              </a:rPr>
              <a:t>New &amp; stackable pathways — local CPL innovation</a:t>
            </a:r>
          </a:p>
        </p:txBody>
      </p:sp>
      <p:sp>
        <p:nvSpPr>
          <p:cNvPr id="29" name="Rounded Rectangle 28"/>
          <p:cNvSpPr/>
          <p:nvPr/>
        </p:nvSpPr>
        <p:spPr>
          <a:xfrm>
            <a:off x="548640" y="5440680"/>
            <a:ext cx="11091672" cy="868680"/>
          </a:xfrm>
          <a:prstGeom prst="roundRect">
            <a:avLst/>
          </a:prstGeom>
          <a:solidFill>
            <a:srgbClr val="1537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22960" y="5541264"/>
            <a:ext cx="10561320" cy="685800"/>
          </a:xfrm>
          <a:prstGeom prst="rect">
            <a:avLst/>
          </a:prstGeom>
          <a:noFill/>
        </p:spPr>
        <p:txBody>
          <a:bodyPr wrap="square" anchor="ctr" lIns="0" rIns="0" tIns="0" bIns="0">
            <a:spAutoFit/>
          </a:bodyPr>
          <a:lstStyle/>
          <a:p>
            <a:pPr algn="l">
              <a:lnSpc>
                <a:spcPct val="105000"/>
              </a:lnSpc>
              <a:spcBef>
                <a:spcPts val="0"/>
              </a:spcBef>
              <a:spcAft>
                <a:spcPts val="400"/>
              </a:spcAft>
            </a:pPr>
            <a:r>
              <a:rPr sz="1400" b="0" i="0">
                <a:solidFill>
                  <a:srgbClr val="FFFFFF"/>
                </a:solidFill>
                <a:latin typeface="Calibri"/>
              </a:rPr>
              <a:t>One-time funds build </a:t>
            </a:r>
            <a:r>
              <a:rPr sz="1400" b="1" i="0">
                <a:solidFill>
                  <a:srgbClr val="E8A32C"/>
                </a:solidFill>
                <a:latin typeface="Calibri"/>
              </a:rPr>
              <a:t>local capacity</a:t>
            </a:r>
            <a:r>
              <a:rPr sz="1400" b="0" i="0">
                <a:solidFill>
                  <a:srgbClr val="FFFFFF"/>
                </a:solidFill>
                <a:latin typeface="Calibri"/>
              </a:rPr>
              <a:t>; ongoing funds sustain the </a:t>
            </a:r>
            <a:r>
              <a:rPr sz="1400" b="1" i="0">
                <a:solidFill>
                  <a:srgbClr val="E8A32C"/>
                </a:solidFill>
                <a:latin typeface="Calibri"/>
              </a:rPr>
              <a:t>shared statewide backbone</a:t>
            </a:r>
            <a:r>
              <a:rPr sz="1400" b="0" i="0">
                <a:solidFill>
                  <a:srgbClr val="FFFFFF"/>
                </a:solidFill>
                <a:latin typeface="Calibri"/>
              </a:rPr>
              <a:t> — the technology and faculty credit recommendations every college draws on.</a:t>
            </a:r>
          </a:p>
        </p:txBody>
      </p:sp>
      <p:sp>
        <p:nvSpPr>
          <p:cNvPr id="31" name="TextBox 30"/>
          <p:cNvSpPr txBox="1"/>
          <p:nvPr/>
        </p:nvSpPr>
        <p:spPr>
          <a:xfrm>
            <a:off x="548640" y="6455664"/>
            <a:ext cx="8961120" cy="320040"/>
          </a:xfrm>
          <a:prstGeom prst="rect">
            <a:avLst/>
          </a:prstGeom>
          <a:noFill/>
        </p:spPr>
        <p:txBody>
          <a:bodyPr wrap="square" anchor="ctr" lIns="0" rIns="0" tIns="0" bIns="0">
            <a:spAutoFit/>
          </a:bodyPr>
          <a:lstStyle/>
          <a:p>
            <a:pPr algn="l">
              <a:lnSpc>
                <a:spcPct val="100000"/>
              </a:lnSpc>
              <a:spcBef>
                <a:spcPts val="0"/>
              </a:spcBef>
              <a:spcAft>
                <a:spcPts val="400"/>
              </a:spcAft>
            </a:pPr>
            <a:r>
              <a:rPr sz="950" b="0" i="0">
                <a:solidFill>
                  <a:srgbClr val="556372"/>
                </a:solidFill>
                <a:latin typeface="Calibri"/>
              </a:rPr>
              <a:t>Source: SB 111 (appropriation) · SB 135 / AB 135 (Higher Education budget trailer bill) · Master Plan for Career Education</a:t>
            </a:r>
          </a:p>
        </p:txBody>
      </p:sp>
      <p:sp>
        <p:nvSpPr>
          <p:cNvPr id="32" name="TextBox 31"/>
          <p:cNvSpPr txBox="1"/>
          <p:nvPr/>
        </p:nvSpPr>
        <p:spPr>
          <a:xfrm>
            <a:off x="11247120" y="6455664"/>
            <a:ext cx="640080" cy="320040"/>
          </a:xfrm>
          <a:prstGeom prst="rect">
            <a:avLst/>
          </a:prstGeom>
          <a:noFill/>
        </p:spPr>
        <p:txBody>
          <a:bodyPr wrap="square" anchor="ctr" lIns="0" rIns="0" tIns="0" bIns="0">
            <a:spAutoFit/>
          </a:bodyPr>
          <a:lstStyle/>
          <a:p>
            <a:pPr algn="r">
              <a:lnSpc>
                <a:spcPct val="100000"/>
              </a:lnSpc>
              <a:spcBef>
                <a:spcPts val="0"/>
              </a:spcBef>
              <a:spcAft>
                <a:spcPts val="400"/>
              </a:spcAft>
            </a:pPr>
            <a:r>
              <a:rPr sz="1000" b="0" i="0">
                <a:solidFill>
                  <a:srgbClr val="556372"/>
                </a:solidFill>
                <a:latin typeface="Calibri"/>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57200"/>
            <a:ext cx="11064240" cy="320040"/>
          </a:xfrm>
          <a:prstGeom prst="rect">
            <a:avLst/>
          </a:prstGeom>
          <a:noFill/>
        </p:spPr>
        <p:txBody>
          <a:bodyPr wrap="square" anchor="t" lIns="0" rIns="0" tIns="0" bIns="0">
            <a:spAutoFit/>
          </a:bodyPr>
          <a:lstStyle/>
          <a:p>
            <a:pPr algn="l">
              <a:lnSpc>
                <a:spcPct val="100000"/>
              </a:lnSpc>
              <a:spcBef>
                <a:spcPts val="0"/>
              </a:spcBef>
              <a:spcAft>
                <a:spcPts val="400"/>
              </a:spcAft>
            </a:pPr>
            <a:r>
              <a:rPr sz="1250" b="1" i="0">
                <a:solidFill>
                  <a:srgbClr val="1D5C9E"/>
                </a:solidFill>
                <a:latin typeface="Calibri"/>
              </a:rPr>
              <a:t>DRAFT IMPLEMENTATION FUNDING MODEL</a:t>
            </a:r>
          </a:p>
        </p:txBody>
      </p:sp>
      <p:sp>
        <p:nvSpPr>
          <p:cNvPr id="4" name="TextBox 3"/>
          <p:cNvSpPr txBox="1"/>
          <p:nvPr/>
        </p:nvSpPr>
        <p:spPr>
          <a:xfrm>
            <a:off x="548640" y="841247"/>
            <a:ext cx="11064240" cy="914400"/>
          </a:xfrm>
          <a:prstGeom prst="rect">
            <a:avLst/>
          </a:prstGeom>
          <a:noFill/>
        </p:spPr>
        <p:txBody>
          <a:bodyPr wrap="square" anchor="t" lIns="0" rIns="0" tIns="0" bIns="0">
            <a:spAutoFit/>
          </a:bodyPr>
          <a:lstStyle/>
          <a:p>
            <a:pPr algn="l">
              <a:lnSpc>
                <a:spcPct val="98000"/>
              </a:lnSpc>
              <a:spcBef>
                <a:spcPts val="0"/>
              </a:spcBef>
              <a:spcAft>
                <a:spcPts val="0"/>
              </a:spcAft>
            </a:pPr>
            <a:r>
              <a:rPr sz="2900" b="1" i="0">
                <a:solidFill>
                  <a:srgbClr val="153763"/>
                </a:solidFill>
                <a:latin typeface="Cambria"/>
              </a:rPr>
              <a:t>Funds Follow Outcomes — Across Three Priorities</a:t>
            </a:r>
          </a:p>
        </p:txBody>
      </p:sp>
      <p:sp>
        <p:nvSpPr>
          <p:cNvPr id="5" name="Rectangle 4"/>
          <p:cNvSpPr/>
          <p:nvPr/>
        </p:nvSpPr>
        <p:spPr>
          <a:xfrm>
            <a:off x="566928" y="1408176"/>
            <a:ext cx="1554480" cy="54864"/>
          </a:xfrm>
          <a:prstGeom prst="rect">
            <a:avLst/>
          </a:prstGeom>
          <a:solidFill>
            <a:srgbClr val="E8A3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828800"/>
            <a:ext cx="11064240" cy="457200"/>
          </a:xfrm>
          <a:prstGeom prst="rect">
            <a:avLst/>
          </a:prstGeom>
          <a:noFill/>
        </p:spPr>
        <p:txBody>
          <a:bodyPr wrap="square" anchor="t" lIns="0" rIns="0" tIns="0" bIns="0">
            <a:spAutoFit/>
          </a:bodyPr>
          <a:lstStyle/>
          <a:p>
            <a:pPr algn="l">
              <a:lnSpc>
                <a:spcPct val="100000"/>
              </a:lnSpc>
              <a:spcBef>
                <a:spcPts val="0"/>
              </a:spcBef>
              <a:spcAft>
                <a:spcPts val="400"/>
              </a:spcAft>
            </a:pPr>
            <a:r>
              <a:rPr sz="1450" b="0" i="1">
                <a:solidFill>
                  <a:srgbClr val="556372"/>
                </a:solidFill>
                <a:latin typeface="Calibri"/>
              </a:rPr>
              <a:t>Each college’s share is earned on measured CPL outcomes — reflecting the statute’s goal of advancing career attainment through CPL.</a:t>
            </a:r>
          </a:p>
        </p:txBody>
      </p:sp>
      <p:sp>
        <p:nvSpPr>
          <p:cNvPr id="7" name="Rounded Rectangle 6"/>
          <p:cNvSpPr/>
          <p:nvPr/>
        </p:nvSpPr>
        <p:spPr>
          <a:xfrm>
            <a:off x="548640" y="2423160"/>
            <a:ext cx="3639312" cy="2514600"/>
          </a:xfrm>
          <a:prstGeom prst="roundRect">
            <a:avLst/>
          </a:prstGeom>
          <a:solidFill>
            <a:srgbClr val="EEF3F9"/>
          </a:solidFill>
          <a:ln w="12700">
            <a:solidFill>
              <a:srgbClr val="D5DF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48640" y="2423160"/>
            <a:ext cx="3639312" cy="502920"/>
          </a:xfrm>
          <a:prstGeom prst="roundRect">
            <a:avLst/>
          </a:prstGeom>
          <a:solidFill>
            <a:srgbClr val="1D5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679191"/>
            <a:ext cx="3639312" cy="246888"/>
          </a:xfrm>
          <a:prstGeom prst="rect">
            <a:avLst/>
          </a:prstGeom>
          <a:solidFill>
            <a:srgbClr val="1D5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2423160"/>
            <a:ext cx="3273552" cy="502920"/>
          </a:xfrm>
          <a:prstGeom prst="rect">
            <a:avLst/>
          </a:prstGeom>
          <a:noFill/>
        </p:spPr>
        <p:txBody>
          <a:bodyPr wrap="square" anchor="ctr" lIns="0" rIns="0" tIns="0" bIns="0">
            <a:spAutoFit/>
          </a:bodyPr>
          <a:lstStyle/>
          <a:p>
            <a:pPr algn="l">
              <a:lnSpc>
                <a:spcPct val="100000"/>
              </a:lnSpc>
              <a:spcBef>
                <a:spcPts val="0"/>
              </a:spcBef>
              <a:spcAft>
                <a:spcPts val="400"/>
              </a:spcAft>
            </a:pPr>
            <a:r>
              <a:rPr sz="1400" b="1" i="0">
                <a:solidFill>
                  <a:srgbClr val="FFFFFF"/>
                </a:solidFill>
                <a:latin typeface="Calibri"/>
              </a:rPr>
              <a:t>PRIORITY 1</a:t>
            </a:r>
          </a:p>
        </p:txBody>
      </p:sp>
      <p:sp>
        <p:nvSpPr>
          <p:cNvPr id="11" name="TextBox 10"/>
          <p:cNvSpPr txBox="1"/>
          <p:nvPr/>
        </p:nvSpPr>
        <p:spPr>
          <a:xfrm>
            <a:off x="804672" y="3136391"/>
            <a:ext cx="3182112" cy="640080"/>
          </a:xfrm>
          <a:prstGeom prst="rect">
            <a:avLst/>
          </a:prstGeom>
          <a:noFill/>
        </p:spPr>
        <p:txBody>
          <a:bodyPr wrap="square" anchor="t" lIns="0" rIns="0" tIns="0" bIns="0">
            <a:spAutoFit/>
          </a:bodyPr>
          <a:lstStyle/>
          <a:p>
            <a:pPr algn="l">
              <a:lnSpc>
                <a:spcPct val="100000"/>
              </a:lnSpc>
              <a:spcBef>
                <a:spcPts val="0"/>
              </a:spcBef>
              <a:spcAft>
                <a:spcPts val="400"/>
              </a:spcAft>
            </a:pPr>
            <a:r>
              <a:rPr sz="2400" b="1" i="0">
                <a:solidFill>
                  <a:srgbClr val="153763"/>
                </a:solidFill>
                <a:latin typeface="Cambria"/>
              </a:rPr>
              <a:t>Completion</a:t>
            </a:r>
          </a:p>
        </p:txBody>
      </p:sp>
      <p:sp>
        <p:nvSpPr>
          <p:cNvPr id="12" name="TextBox 11"/>
          <p:cNvSpPr txBox="1"/>
          <p:nvPr/>
        </p:nvSpPr>
        <p:spPr>
          <a:xfrm>
            <a:off x="804672" y="3904487"/>
            <a:ext cx="3136391" cy="914400"/>
          </a:xfrm>
          <a:prstGeom prst="rect">
            <a:avLst/>
          </a:prstGeom>
          <a:noFill/>
        </p:spPr>
        <p:txBody>
          <a:bodyPr wrap="square" anchor="t" lIns="0" rIns="0" tIns="0" bIns="0">
            <a:spAutoFit/>
          </a:bodyPr>
          <a:lstStyle/>
          <a:p>
            <a:pPr algn="l">
              <a:lnSpc>
                <a:spcPct val="108000"/>
              </a:lnSpc>
              <a:spcBef>
                <a:spcPts val="0"/>
              </a:spcBef>
              <a:spcAft>
                <a:spcPts val="400"/>
              </a:spcAft>
            </a:pPr>
            <a:r>
              <a:rPr sz="1350" b="0" i="0">
                <a:solidFill>
                  <a:srgbClr val="222A33"/>
                </a:solidFill>
                <a:latin typeface="Calibri"/>
              </a:rPr>
              <a:t>Grow certificate &amp; degree completion — and career attainment — through CPL awards.</a:t>
            </a:r>
          </a:p>
        </p:txBody>
      </p:sp>
      <p:sp>
        <p:nvSpPr>
          <p:cNvPr id="13" name="Rounded Rectangle 12"/>
          <p:cNvSpPr/>
          <p:nvPr/>
        </p:nvSpPr>
        <p:spPr>
          <a:xfrm>
            <a:off x="4361688" y="2423160"/>
            <a:ext cx="3639312" cy="2514600"/>
          </a:xfrm>
          <a:prstGeom prst="roundRect">
            <a:avLst/>
          </a:prstGeom>
          <a:solidFill>
            <a:srgbClr val="EEF3F9"/>
          </a:solidFill>
          <a:ln w="12700">
            <a:solidFill>
              <a:srgbClr val="D5DF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4361688" y="2423160"/>
            <a:ext cx="3639312" cy="502920"/>
          </a:xfrm>
          <a:prstGeom prst="roundRect">
            <a:avLst/>
          </a:prstGeom>
          <a:solidFill>
            <a:srgbClr val="1D5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61688" y="2679191"/>
            <a:ext cx="3639312" cy="246888"/>
          </a:xfrm>
          <a:prstGeom prst="rect">
            <a:avLst/>
          </a:prstGeom>
          <a:solidFill>
            <a:srgbClr val="1D5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90288" y="2423160"/>
            <a:ext cx="3273552" cy="502920"/>
          </a:xfrm>
          <a:prstGeom prst="rect">
            <a:avLst/>
          </a:prstGeom>
          <a:noFill/>
        </p:spPr>
        <p:txBody>
          <a:bodyPr wrap="square" anchor="ctr" lIns="0" rIns="0" tIns="0" bIns="0">
            <a:spAutoFit/>
          </a:bodyPr>
          <a:lstStyle/>
          <a:p>
            <a:pPr algn="l">
              <a:lnSpc>
                <a:spcPct val="100000"/>
              </a:lnSpc>
              <a:spcBef>
                <a:spcPts val="0"/>
              </a:spcBef>
              <a:spcAft>
                <a:spcPts val="400"/>
              </a:spcAft>
            </a:pPr>
            <a:r>
              <a:rPr sz="1400" b="1" i="0">
                <a:solidFill>
                  <a:srgbClr val="FFFFFF"/>
                </a:solidFill>
                <a:latin typeface="Calibri"/>
              </a:rPr>
              <a:t>PRIORITY 2</a:t>
            </a:r>
          </a:p>
        </p:txBody>
      </p:sp>
      <p:sp>
        <p:nvSpPr>
          <p:cNvPr id="17" name="TextBox 16"/>
          <p:cNvSpPr txBox="1"/>
          <p:nvPr/>
        </p:nvSpPr>
        <p:spPr>
          <a:xfrm>
            <a:off x="4617720" y="3136391"/>
            <a:ext cx="3182112" cy="640080"/>
          </a:xfrm>
          <a:prstGeom prst="rect">
            <a:avLst/>
          </a:prstGeom>
          <a:noFill/>
        </p:spPr>
        <p:txBody>
          <a:bodyPr wrap="square" anchor="t" lIns="0" rIns="0" tIns="0" bIns="0">
            <a:spAutoFit/>
          </a:bodyPr>
          <a:lstStyle/>
          <a:p>
            <a:pPr algn="l">
              <a:lnSpc>
                <a:spcPct val="100000"/>
              </a:lnSpc>
              <a:spcBef>
                <a:spcPts val="0"/>
              </a:spcBef>
              <a:spcAft>
                <a:spcPts val="400"/>
              </a:spcAft>
            </a:pPr>
            <a:r>
              <a:rPr sz="2400" b="1" i="0">
                <a:solidFill>
                  <a:srgbClr val="153763"/>
                </a:solidFill>
                <a:latin typeface="Cambria"/>
              </a:rPr>
              <a:t>Access</a:t>
            </a:r>
          </a:p>
        </p:txBody>
      </p:sp>
      <p:sp>
        <p:nvSpPr>
          <p:cNvPr id="18" name="TextBox 17"/>
          <p:cNvSpPr txBox="1"/>
          <p:nvPr/>
        </p:nvSpPr>
        <p:spPr>
          <a:xfrm>
            <a:off x="4617720" y="3904487"/>
            <a:ext cx="3136391" cy="914400"/>
          </a:xfrm>
          <a:prstGeom prst="rect">
            <a:avLst/>
          </a:prstGeom>
          <a:noFill/>
        </p:spPr>
        <p:txBody>
          <a:bodyPr wrap="square" anchor="t" lIns="0" rIns="0" tIns="0" bIns="0">
            <a:spAutoFit/>
          </a:bodyPr>
          <a:lstStyle/>
          <a:p>
            <a:pPr algn="l">
              <a:lnSpc>
                <a:spcPct val="108000"/>
              </a:lnSpc>
              <a:spcBef>
                <a:spcPts val="0"/>
              </a:spcBef>
              <a:spcAft>
                <a:spcPts val="400"/>
              </a:spcAft>
            </a:pPr>
            <a:r>
              <a:rPr sz="1350" b="0" i="0">
                <a:solidFill>
                  <a:srgbClr val="222A33"/>
                </a:solidFill>
                <a:latin typeface="Calibri"/>
              </a:rPr>
              <a:t>Reach and enroll more students through CPL, and make it visible and accessible.</a:t>
            </a:r>
          </a:p>
        </p:txBody>
      </p:sp>
      <p:sp>
        <p:nvSpPr>
          <p:cNvPr id="19" name="Rounded Rectangle 18"/>
          <p:cNvSpPr/>
          <p:nvPr/>
        </p:nvSpPr>
        <p:spPr>
          <a:xfrm>
            <a:off x="8174736" y="2423160"/>
            <a:ext cx="3639312" cy="2514600"/>
          </a:xfrm>
          <a:prstGeom prst="roundRect">
            <a:avLst/>
          </a:prstGeom>
          <a:solidFill>
            <a:srgbClr val="EEF3F9"/>
          </a:solidFill>
          <a:ln w="12700">
            <a:solidFill>
              <a:srgbClr val="D5DF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8174736" y="2423160"/>
            <a:ext cx="3639312" cy="502920"/>
          </a:xfrm>
          <a:prstGeom prst="roundRect">
            <a:avLst/>
          </a:prstGeom>
          <a:solidFill>
            <a:srgbClr val="1D5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174736" y="2679191"/>
            <a:ext cx="3639312" cy="246888"/>
          </a:xfrm>
          <a:prstGeom prst="rect">
            <a:avLst/>
          </a:prstGeom>
          <a:solidFill>
            <a:srgbClr val="1D5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403336" y="2423160"/>
            <a:ext cx="3273552" cy="502920"/>
          </a:xfrm>
          <a:prstGeom prst="rect">
            <a:avLst/>
          </a:prstGeom>
          <a:noFill/>
        </p:spPr>
        <p:txBody>
          <a:bodyPr wrap="square" anchor="ctr" lIns="0" rIns="0" tIns="0" bIns="0">
            <a:spAutoFit/>
          </a:bodyPr>
          <a:lstStyle/>
          <a:p>
            <a:pPr algn="l">
              <a:lnSpc>
                <a:spcPct val="100000"/>
              </a:lnSpc>
              <a:spcBef>
                <a:spcPts val="0"/>
              </a:spcBef>
              <a:spcAft>
                <a:spcPts val="400"/>
              </a:spcAft>
            </a:pPr>
            <a:r>
              <a:rPr sz="1400" b="1" i="0">
                <a:solidFill>
                  <a:srgbClr val="FFFFFF"/>
                </a:solidFill>
                <a:latin typeface="Calibri"/>
              </a:rPr>
              <a:t>PRIORITY 3</a:t>
            </a:r>
          </a:p>
        </p:txBody>
      </p:sp>
      <p:sp>
        <p:nvSpPr>
          <p:cNvPr id="23" name="TextBox 22"/>
          <p:cNvSpPr txBox="1"/>
          <p:nvPr/>
        </p:nvSpPr>
        <p:spPr>
          <a:xfrm>
            <a:off x="8430767" y="3136391"/>
            <a:ext cx="3182112" cy="640080"/>
          </a:xfrm>
          <a:prstGeom prst="rect">
            <a:avLst/>
          </a:prstGeom>
          <a:noFill/>
        </p:spPr>
        <p:txBody>
          <a:bodyPr wrap="square" anchor="t" lIns="0" rIns="0" tIns="0" bIns="0">
            <a:spAutoFit/>
          </a:bodyPr>
          <a:lstStyle/>
          <a:p>
            <a:pPr algn="l">
              <a:lnSpc>
                <a:spcPct val="100000"/>
              </a:lnSpc>
              <a:spcBef>
                <a:spcPts val="0"/>
              </a:spcBef>
              <a:spcAft>
                <a:spcPts val="400"/>
              </a:spcAft>
            </a:pPr>
            <a:r>
              <a:rPr sz="2400" b="1" i="0">
                <a:solidFill>
                  <a:srgbClr val="153763"/>
                </a:solidFill>
                <a:latin typeface="Cambria"/>
              </a:rPr>
              <a:t>Capacity &amp; Mobility</a:t>
            </a:r>
          </a:p>
        </p:txBody>
      </p:sp>
      <p:sp>
        <p:nvSpPr>
          <p:cNvPr id="24" name="TextBox 23"/>
          <p:cNvSpPr txBox="1"/>
          <p:nvPr/>
        </p:nvSpPr>
        <p:spPr>
          <a:xfrm>
            <a:off x="8430767" y="3904487"/>
            <a:ext cx="3136391" cy="914400"/>
          </a:xfrm>
          <a:prstGeom prst="rect">
            <a:avLst/>
          </a:prstGeom>
          <a:noFill/>
        </p:spPr>
        <p:txBody>
          <a:bodyPr wrap="square" anchor="t" lIns="0" rIns="0" tIns="0" bIns="0">
            <a:spAutoFit/>
          </a:bodyPr>
          <a:lstStyle/>
          <a:p>
            <a:pPr algn="l">
              <a:lnSpc>
                <a:spcPct val="108000"/>
              </a:lnSpc>
              <a:spcBef>
                <a:spcPts val="0"/>
              </a:spcBef>
              <a:spcAft>
                <a:spcPts val="400"/>
              </a:spcAft>
            </a:pPr>
            <a:r>
              <a:rPr sz="1350" b="0" i="0">
                <a:solidFill>
                  <a:srgbClr val="222A33"/>
                </a:solidFill>
                <a:latin typeface="Calibri"/>
              </a:rPr>
              <a:t>Build durable CPL — documentable, interoperable, and portable across colleges and segments.</a:t>
            </a:r>
          </a:p>
        </p:txBody>
      </p:sp>
      <p:sp>
        <p:nvSpPr>
          <p:cNvPr id="25" name="Rounded Rectangle 24"/>
          <p:cNvSpPr/>
          <p:nvPr/>
        </p:nvSpPr>
        <p:spPr>
          <a:xfrm>
            <a:off x="548640" y="5193792"/>
            <a:ext cx="11091672" cy="658368"/>
          </a:xfrm>
          <a:prstGeom prst="roundRect">
            <a:avLst/>
          </a:prstGeom>
          <a:solidFill>
            <a:srgbClr val="1537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2960" y="5193792"/>
            <a:ext cx="10561320" cy="658368"/>
          </a:xfrm>
          <a:prstGeom prst="rect">
            <a:avLst/>
          </a:prstGeom>
          <a:noFill/>
        </p:spPr>
        <p:txBody>
          <a:bodyPr wrap="square" anchor="ctr" lIns="0" rIns="0" tIns="0" bIns="0">
            <a:spAutoFit/>
          </a:bodyPr>
          <a:lstStyle/>
          <a:p>
            <a:pPr algn="l">
              <a:lnSpc>
                <a:spcPct val="100000"/>
              </a:lnSpc>
              <a:spcBef>
                <a:spcPts val="0"/>
              </a:spcBef>
              <a:spcAft>
                <a:spcPts val="400"/>
              </a:spcAft>
            </a:pPr>
            <a:r>
              <a:rPr sz="1350" b="1" i="0">
                <a:solidFill>
                  <a:srgbClr val="E8A32C"/>
                </a:solidFill>
                <a:latin typeface="Calibri"/>
              </a:rPr>
              <a:t>DRAFT: </a:t>
            </a:r>
            <a:r>
              <a:rPr sz="1350" b="0" i="0">
                <a:solidFill>
                  <a:srgbClr val="FFFFFF"/>
                </a:solidFill>
                <a:latin typeface="Calibri"/>
              </a:rPr>
              <a:t>priority weighting and dollar allocations are still in development with the field — the framework is what’s settled.</a:t>
            </a:r>
          </a:p>
        </p:txBody>
      </p:sp>
      <p:sp>
        <p:nvSpPr>
          <p:cNvPr id="27" name="TextBox 26"/>
          <p:cNvSpPr txBox="1"/>
          <p:nvPr/>
        </p:nvSpPr>
        <p:spPr>
          <a:xfrm>
            <a:off x="548640" y="6455664"/>
            <a:ext cx="8961120" cy="320040"/>
          </a:xfrm>
          <a:prstGeom prst="rect">
            <a:avLst/>
          </a:prstGeom>
          <a:noFill/>
        </p:spPr>
        <p:txBody>
          <a:bodyPr wrap="square" anchor="ctr" lIns="0" rIns="0" tIns="0" bIns="0">
            <a:spAutoFit/>
          </a:bodyPr>
          <a:lstStyle/>
          <a:p>
            <a:pPr algn="l">
              <a:lnSpc>
                <a:spcPct val="100000"/>
              </a:lnSpc>
              <a:spcBef>
                <a:spcPts val="0"/>
              </a:spcBef>
              <a:spcAft>
                <a:spcPts val="400"/>
              </a:spcAft>
            </a:pPr>
            <a:r>
              <a:rPr sz="950" b="0" i="0">
                <a:solidFill>
                  <a:srgbClr val="556372"/>
                </a:solidFill>
                <a:latin typeface="Calibri"/>
              </a:rPr>
              <a:t>COBI Implementation Funding model · outcomes measured per college via the MAP platform</a:t>
            </a:r>
          </a:p>
        </p:txBody>
      </p:sp>
      <p:sp>
        <p:nvSpPr>
          <p:cNvPr id="28" name="TextBox 27"/>
          <p:cNvSpPr txBox="1"/>
          <p:nvPr/>
        </p:nvSpPr>
        <p:spPr>
          <a:xfrm>
            <a:off x="11247120" y="6455664"/>
            <a:ext cx="640080" cy="320040"/>
          </a:xfrm>
          <a:prstGeom prst="rect">
            <a:avLst/>
          </a:prstGeom>
          <a:noFill/>
        </p:spPr>
        <p:txBody>
          <a:bodyPr wrap="square" anchor="ctr" lIns="0" rIns="0" tIns="0" bIns="0">
            <a:spAutoFit/>
          </a:bodyPr>
          <a:lstStyle/>
          <a:p>
            <a:pPr algn="r">
              <a:lnSpc>
                <a:spcPct val="100000"/>
              </a:lnSpc>
              <a:spcBef>
                <a:spcPts val="0"/>
              </a:spcBef>
              <a:spcAft>
                <a:spcPts val="400"/>
              </a:spcAft>
            </a:pPr>
            <a:r>
              <a:rPr sz="1000" b="0" i="0">
                <a:solidFill>
                  <a:srgbClr val="556372"/>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57200"/>
            <a:ext cx="11064240" cy="320040"/>
          </a:xfrm>
          <a:prstGeom prst="rect">
            <a:avLst/>
          </a:prstGeom>
          <a:noFill/>
        </p:spPr>
        <p:txBody>
          <a:bodyPr wrap="square" anchor="t" lIns="0" rIns="0" tIns="0" bIns="0">
            <a:spAutoFit/>
          </a:bodyPr>
          <a:lstStyle/>
          <a:p>
            <a:pPr algn="l">
              <a:lnSpc>
                <a:spcPct val="100000"/>
              </a:lnSpc>
              <a:spcBef>
                <a:spcPts val="0"/>
              </a:spcBef>
              <a:spcAft>
                <a:spcPts val="400"/>
              </a:spcAft>
            </a:pPr>
            <a:r>
              <a:rPr sz="1250" b="1" i="0">
                <a:solidFill>
                  <a:srgbClr val="1D5C9E"/>
                </a:solidFill>
                <a:latin typeface="Calibri"/>
              </a:rPr>
              <a:t>HOW THE MODEL IS DESIGNED</a:t>
            </a:r>
          </a:p>
        </p:txBody>
      </p:sp>
      <p:sp>
        <p:nvSpPr>
          <p:cNvPr id="4" name="TextBox 3"/>
          <p:cNvSpPr txBox="1"/>
          <p:nvPr/>
        </p:nvSpPr>
        <p:spPr>
          <a:xfrm>
            <a:off x="548640" y="841247"/>
            <a:ext cx="11064240" cy="914400"/>
          </a:xfrm>
          <a:prstGeom prst="rect">
            <a:avLst/>
          </a:prstGeom>
          <a:noFill/>
        </p:spPr>
        <p:txBody>
          <a:bodyPr wrap="square" anchor="t" lIns="0" rIns="0" tIns="0" bIns="0">
            <a:spAutoFit/>
          </a:bodyPr>
          <a:lstStyle/>
          <a:p>
            <a:pPr algn="l">
              <a:lnSpc>
                <a:spcPct val="98000"/>
              </a:lnSpc>
              <a:spcBef>
                <a:spcPts val="0"/>
              </a:spcBef>
              <a:spcAft>
                <a:spcPts val="0"/>
              </a:spcAft>
            </a:pPr>
            <a:r>
              <a:rPr sz="2900" b="1" i="0">
                <a:solidFill>
                  <a:srgbClr val="153763"/>
                </a:solidFill>
                <a:latin typeface="Cambria"/>
              </a:rPr>
              <a:t>Guiding Principles</a:t>
            </a:r>
          </a:p>
        </p:txBody>
      </p:sp>
      <p:sp>
        <p:nvSpPr>
          <p:cNvPr id="5" name="Rectangle 4"/>
          <p:cNvSpPr/>
          <p:nvPr/>
        </p:nvSpPr>
        <p:spPr>
          <a:xfrm>
            <a:off x="566928" y="1408176"/>
            <a:ext cx="1554480" cy="54864"/>
          </a:xfrm>
          <a:prstGeom prst="rect">
            <a:avLst/>
          </a:prstGeom>
          <a:solidFill>
            <a:srgbClr val="E8A3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965960"/>
            <a:ext cx="3639312" cy="1783080"/>
          </a:xfrm>
          <a:prstGeom prst="roundRect">
            <a:avLst/>
          </a:prstGeom>
          <a:solidFill>
            <a:srgbClr val="FFFFFF"/>
          </a:solidFill>
          <a:ln w="15875">
            <a:solidFill>
              <a:srgbClr val="D5DF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1965960"/>
            <a:ext cx="109728" cy="1783080"/>
          </a:xfrm>
          <a:prstGeom prst="rect">
            <a:avLst/>
          </a:prstGeom>
          <a:solidFill>
            <a:srgbClr val="1D5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7" y="2167128"/>
            <a:ext cx="3182112" cy="1417319"/>
          </a:xfrm>
          <a:prstGeom prst="rect">
            <a:avLst/>
          </a:prstGeom>
          <a:noFill/>
        </p:spPr>
        <p:txBody>
          <a:bodyPr wrap="square" anchor="t" lIns="0" rIns="0" tIns="0" bIns="0">
            <a:spAutoFit/>
          </a:bodyPr>
          <a:lstStyle/>
          <a:p>
            <a:pPr algn="l">
              <a:lnSpc>
                <a:spcPct val="105000"/>
              </a:lnSpc>
              <a:spcBef>
                <a:spcPts val="0"/>
              </a:spcBef>
              <a:spcAft>
                <a:spcPts val="500"/>
              </a:spcAft>
            </a:pPr>
            <a:r>
              <a:rPr sz="1550" b="1" i="0">
                <a:solidFill>
                  <a:srgbClr val="153763"/>
                </a:solidFill>
                <a:latin typeface="Calibri"/>
              </a:rPr>
              <a:t>Outcomes-based</a:t>
            </a:r>
          </a:p>
          <a:p>
            <a:pPr algn="l">
              <a:lnSpc>
                <a:spcPct val="105000"/>
              </a:lnSpc>
              <a:spcBef>
                <a:spcPts val="0"/>
              </a:spcBef>
              <a:spcAft>
                <a:spcPts val="500"/>
              </a:spcAft>
            </a:pPr>
            <a:r>
              <a:rPr sz="1250" b="0" i="0">
                <a:solidFill>
                  <a:srgbClr val="222A33"/>
                </a:solidFill>
                <a:latin typeface="Calibri"/>
              </a:rPr>
              <a:t>Funding follows measured results — not headcount alone.</a:t>
            </a:r>
          </a:p>
        </p:txBody>
      </p:sp>
      <p:sp>
        <p:nvSpPr>
          <p:cNvPr id="9" name="Rounded Rectangle 8"/>
          <p:cNvSpPr/>
          <p:nvPr/>
        </p:nvSpPr>
        <p:spPr>
          <a:xfrm>
            <a:off x="4361688" y="1965960"/>
            <a:ext cx="3639312" cy="1783080"/>
          </a:xfrm>
          <a:prstGeom prst="roundRect">
            <a:avLst/>
          </a:prstGeom>
          <a:solidFill>
            <a:srgbClr val="FFFFFF"/>
          </a:solidFill>
          <a:ln w="15875">
            <a:solidFill>
              <a:srgbClr val="D5DF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61688" y="1965960"/>
            <a:ext cx="109728" cy="1783080"/>
          </a:xfrm>
          <a:prstGeom prst="rect">
            <a:avLst/>
          </a:prstGeom>
          <a:solidFill>
            <a:srgbClr val="1D5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54296" y="2167128"/>
            <a:ext cx="3182112" cy="1417319"/>
          </a:xfrm>
          <a:prstGeom prst="rect">
            <a:avLst/>
          </a:prstGeom>
          <a:noFill/>
        </p:spPr>
        <p:txBody>
          <a:bodyPr wrap="square" anchor="t" lIns="0" rIns="0" tIns="0" bIns="0">
            <a:spAutoFit/>
          </a:bodyPr>
          <a:lstStyle/>
          <a:p>
            <a:pPr algn="l">
              <a:lnSpc>
                <a:spcPct val="105000"/>
              </a:lnSpc>
              <a:spcBef>
                <a:spcPts val="0"/>
              </a:spcBef>
              <a:spcAft>
                <a:spcPts val="500"/>
              </a:spcAft>
            </a:pPr>
            <a:r>
              <a:rPr sz="1550" b="1" i="0">
                <a:solidFill>
                  <a:srgbClr val="153763"/>
                </a:solidFill>
                <a:latin typeface="Calibri"/>
              </a:rPr>
              <a:t>Equitable &amp; inclusive</a:t>
            </a:r>
          </a:p>
          <a:p>
            <a:pPr algn="l">
              <a:lnSpc>
                <a:spcPct val="105000"/>
              </a:lnSpc>
              <a:spcBef>
                <a:spcPts val="0"/>
              </a:spcBef>
              <a:spcAft>
                <a:spcPts val="500"/>
              </a:spcAft>
            </a:pPr>
            <a:r>
              <a:rPr sz="1250" b="0" i="0">
                <a:solidFill>
                  <a:srgbClr val="222A33"/>
                </a:solidFill>
                <a:latin typeface="Calibri"/>
              </a:rPr>
              <a:t>A minimum-viable floor so every participating college can build a real program; a rural-college allowance; noncredit-feeder support.</a:t>
            </a:r>
          </a:p>
        </p:txBody>
      </p:sp>
      <p:sp>
        <p:nvSpPr>
          <p:cNvPr id="12" name="Rounded Rectangle 11"/>
          <p:cNvSpPr/>
          <p:nvPr/>
        </p:nvSpPr>
        <p:spPr>
          <a:xfrm>
            <a:off x="8174736" y="1965960"/>
            <a:ext cx="3639312" cy="1783080"/>
          </a:xfrm>
          <a:prstGeom prst="roundRect">
            <a:avLst/>
          </a:prstGeom>
          <a:solidFill>
            <a:srgbClr val="FFFFFF"/>
          </a:solidFill>
          <a:ln w="15875">
            <a:solidFill>
              <a:srgbClr val="D5DF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174736" y="1965960"/>
            <a:ext cx="109728" cy="1783080"/>
          </a:xfrm>
          <a:prstGeom prst="rect">
            <a:avLst/>
          </a:prstGeom>
          <a:solidFill>
            <a:srgbClr val="1D5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467344" y="2167128"/>
            <a:ext cx="3182112" cy="1417319"/>
          </a:xfrm>
          <a:prstGeom prst="rect">
            <a:avLst/>
          </a:prstGeom>
          <a:noFill/>
        </p:spPr>
        <p:txBody>
          <a:bodyPr wrap="square" anchor="t" lIns="0" rIns="0" tIns="0" bIns="0">
            <a:spAutoFit/>
          </a:bodyPr>
          <a:lstStyle/>
          <a:p>
            <a:pPr algn="l">
              <a:lnSpc>
                <a:spcPct val="105000"/>
              </a:lnSpc>
              <a:spcBef>
                <a:spcPts val="0"/>
              </a:spcBef>
              <a:spcAft>
                <a:spcPts val="500"/>
              </a:spcAft>
            </a:pPr>
            <a:r>
              <a:rPr sz="1550" b="1" i="0">
                <a:solidFill>
                  <a:srgbClr val="153763"/>
                </a:solidFill>
                <a:latin typeface="Calibri"/>
              </a:rPr>
              <a:t>Transparent &amp; predictable</a:t>
            </a:r>
          </a:p>
          <a:p>
            <a:pPr algn="l">
              <a:lnSpc>
                <a:spcPct val="105000"/>
              </a:lnSpc>
              <a:spcBef>
                <a:spcPts val="0"/>
              </a:spcBef>
              <a:spcAft>
                <a:spcPts val="500"/>
              </a:spcAft>
            </a:pPr>
            <a:r>
              <a:rPr sz="1250" b="0" i="0">
                <a:solidFill>
                  <a:srgbClr val="222A33"/>
                </a:solidFill>
                <a:latin typeface="Calibri"/>
              </a:rPr>
              <a:t>One clear, published model — colleges can see how their allocation is derived.</a:t>
            </a:r>
          </a:p>
        </p:txBody>
      </p:sp>
      <p:sp>
        <p:nvSpPr>
          <p:cNvPr id="15" name="Rounded Rectangle 14"/>
          <p:cNvSpPr/>
          <p:nvPr/>
        </p:nvSpPr>
        <p:spPr>
          <a:xfrm>
            <a:off x="548640" y="3931920"/>
            <a:ext cx="3639312" cy="1783080"/>
          </a:xfrm>
          <a:prstGeom prst="roundRect">
            <a:avLst/>
          </a:prstGeom>
          <a:solidFill>
            <a:srgbClr val="FFFFFF"/>
          </a:solidFill>
          <a:ln w="15875">
            <a:solidFill>
              <a:srgbClr val="D5DF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3931920"/>
            <a:ext cx="109728" cy="1783080"/>
          </a:xfrm>
          <a:prstGeom prst="rect">
            <a:avLst/>
          </a:prstGeom>
          <a:solidFill>
            <a:srgbClr val="E8A3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41247" y="4133087"/>
            <a:ext cx="3182112" cy="1417319"/>
          </a:xfrm>
          <a:prstGeom prst="rect">
            <a:avLst/>
          </a:prstGeom>
          <a:noFill/>
        </p:spPr>
        <p:txBody>
          <a:bodyPr wrap="square" anchor="t" lIns="0" rIns="0" tIns="0" bIns="0">
            <a:spAutoFit/>
          </a:bodyPr>
          <a:lstStyle/>
          <a:p>
            <a:pPr algn="l">
              <a:lnSpc>
                <a:spcPct val="105000"/>
              </a:lnSpc>
              <a:spcBef>
                <a:spcPts val="0"/>
              </a:spcBef>
              <a:spcAft>
                <a:spcPts val="500"/>
              </a:spcAft>
            </a:pPr>
            <a:r>
              <a:rPr sz="1550" b="1" i="0">
                <a:solidFill>
                  <a:srgbClr val="153763"/>
                </a:solidFill>
                <a:latin typeface="Calibri"/>
              </a:rPr>
              <a:t>Sustainable</a:t>
            </a:r>
          </a:p>
          <a:p>
            <a:pPr algn="l">
              <a:lnSpc>
                <a:spcPct val="105000"/>
              </a:lnSpc>
              <a:spcBef>
                <a:spcPts val="0"/>
              </a:spcBef>
              <a:spcAft>
                <a:spcPts val="500"/>
              </a:spcAft>
            </a:pPr>
            <a:r>
              <a:rPr sz="1250" b="0" i="0">
                <a:solidFill>
                  <a:srgbClr val="222A33"/>
                </a:solidFill>
                <a:latin typeface="Calibri"/>
              </a:rPr>
              <a:t>One-time funds build local capacity; ongoing funds sustain the statewide backbone.</a:t>
            </a:r>
          </a:p>
        </p:txBody>
      </p:sp>
      <p:sp>
        <p:nvSpPr>
          <p:cNvPr id="18" name="Rounded Rectangle 17"/>
          <p:cNvSpPr/>
          <p:nvPr/>
        </p:nvSpPr>
        <p:spPr>
          <a:xfrm>
            <a:off x="4361688" y="3931920"/>
            <a:ext cx="3639312" cy="1783080"/>
          </a:xfrm>
          <a:prstGeom prst="roundRect">
            <a:avLst/>
          </a:prstGeom>
          <a:solidFill>
            <a:srgbClr val="FFFFFF"/>
          </a:solidFill>
          <a:ln w="15875">
            <a:solidFill>
              <a:srgbClr val="D5DF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361688" y="3931920"/>
            <a:ext cx="109728" cy="1783080"/>
          </a:xfrm>
          <a:prstGeom prst="rect">
            <a:avLst/>
          </a:prstGeom>
          <a:solidFill>
            <a:srgbClr val="E8A3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654296" y="4133087"/>
            <a:ext cx="3182112" cy="1417319"/>
          </a:xfrm>
          <a:prstGeom prst="rect">
            <a:avLst/>
          </a:prstGeom>
          <a:noFill/>
        </p:spPr>
        <p:txBody>
          <a:bodyPr wrap="square" anchor="t" lIns="0" rIns="0" tIns="0" bIns="0">
            <a:spAutoFit/>
          </a:bodyPr>
          <a:lstStyle/>
          <a:p>
            <a:pPr algn="l">
              <a:lnSpc>
                <a:spcPct val="105000"/>
              </a:lnSpc>
              <a:spcBef>
                <a:spcPts val="0"/>
              </a:spcBef>
              <a:spcAft>
                <a:spcPts val="500"/>
              </a:spcAft>
            </a:pPr>
            <a:r>
              <a:rPr sz="1550" b="1" i="0">
                <a:solidFill>
                  <a:srgbClr val="153763"/>
                </a:solidFill>
                <a:latin typeface="Calibri"/>
              </a:rPr>
              <a:t>Systemwide &amp; portable</a:t>
            </a:r>
          </a:p>
          <a:p>
            <a:pPr algn="l">
              <a:lnSpc>
                <a:spcPct val="105000"/>
              </a:lnSpc>
              <a:spcBef>
                <a:spcPts val="0"/>
              </a:spcBef>
              <a:spcAft>
                <a:spcPts val="500"/>
              </a:spcAft>
            </a:pPr>
            <a:r>
              <a:rPr sz="1250" b="0" i="0">
                <a:solidFill>
                  <a:srgbClr val="222A33"/>
                </a:solidFill>
                <a:latin typeface="Calibri"/>
              </a:rPr>
              <a:t>Credit earned once travels — aligned across colleges and toward CSU &amp; UC.</a:t>
            </a:r>
          </a:p>
        </p:txBody>
      </p:sp>
      <p:sp>
        <p:nvSpPr>
          <p:cNvPr id="21" name="Rounded Rectangle 20"/>
          <p:cNvSpPr/>
          <p:nvPr/>
        </p:nvSpPr>
        <p:spPr>
          <a:xfrm>
            <a:off x="8174736" y="3931920"/>
            <a:ext cx="3639312" cy="1783080"/>
          </a:xfrm>
          <a:prstGeom prst="roundRect">
            <a:avLst/>
          </a:prstGeom>
          <a:solidFill>
            <a:srgbClr val="FFFFFF"/>
          </a:solidFill>
          <a:ln w="15875">
            <a:solidFill>
              <a:srgbClr val="D5DF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174736" y="3931920"/>
            <a:ext cx="109728" cy="1783080"/>
          </a:xfrm>
          <a:prstGeom prst="rect">
            <a:avLst/>
          </a:prstGeom>
          <a:solidFill>
            <a:srgbClr val="E8A3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467344" y="4133087"/>
            <a:ext cx="3182112" cy="1417319"/>
          </a:xfrm>
          <a:prstGeom prst="rect">
            <a:avLst/>
          </a:prstGeom>
          <a:noFill/>
        </p:spPr>
        <p:txBody>
          <a:bodyPr wrap="square" anchor="t" lIns="0" rIns="0" tIns="0" bIns="0">
            <a:spAutoFit/>
          </a:bodyPr>
          <a:lstStyle/>
          <a:p>
            <a:pPr algn="l">
              <a:lnSpc>
                <a:spcPct val="105000"/>
              </a:lnSpc>
              <a:spcBef>
                <a:spcPts val="0"/>
              </a:spcBef>
              <a:spcAft>
                <a:spcPts val="500"/>
              </a:spcAft>
            </a:pPr>
            <a:r>
              <a:rPr sz="1550" b="1" i="0">
                <a:solidFill>
                  <a:srgbClr val="153763"/>
                </a:solidFill>
                <a:latin typeface="Calibri"/>
              </a:rPr>
              <a:t>Faculty-driven, student-centered</a:t>
            </a:r>
          </a:p>
          <a:p>
            <a:pPr algn="l">
              <a:lnSpc>
                <a:spcPct val="105000"/>
              </a:lnSpc>
              <a:spcBef>
                <a:spcPts val="0"/>
              </a:spcBef>
              <a:spcAft>
                <a:spcPts val="500"/>
              </a:spcAft>
            </a:pPr>
            <a:r>
              <a:rPr sz="1250" b="0" i="0">
                <a:solidFill>
                  <a:srgbClr val="222A33"/>
                </a:solidFill>
                <a:latin typeface="Calibri"/>
              </a:rPr>
              <a:t>Faculty own the academic recommendations; students are proactively identified and served.</a:t>
            </a:r>
          </a:p>
        </p:txBody>
      </p:sp>
      <p:sp>
        <p:nvSpPr>
          <p:cNvPr id="24" name="TextBox 23"/>
          <p:cNvSpPr txBox="1"/>
          <p:nvPr/>
        </p:nvSpPr>
        <p:spPr>
          <a:xfrm>
            <a:off x="548640" y="6455664"/>
            <a:ext cx="8961120" cy="320040"/>
          </a:xfrm>
          <a:prstGeom prst="rect">
            <a:avLst/>
          </a:prstGeom>
          <a:noFill/>
        </p:spPr>
        <p:txBody>
          <a:bodyPr wrap="square" anchor="ctr" lIns="0" rIns="0" tIns="0" bIns="0">
            <a:spAutoFit/>
          </a:bodyPr>
          <a:lstStyle/>
          <a:p>
            <a:pPr algn="l">
              <a:lnSpc>
                <a:spcPct val="100000"/>
              </a:lnSpc>
              <a:spcBef>
                <a:spcPts val="0"/>
              </a:spcBef>
              <a:spcAft>
                <a:spcPts val="400"/>
              </a:spcAft>
            </a:pPr>
            <a:r>
              <a:rPr sz="950" b="0" i="0">
                <a:solidFill>
                  <a:srgbClr val="556372"/>
                </a:solidFill>
                <a:latin typeface="Calibri"/>
              </a:rPr>
              <a:t>Draft Implementation Funding model — guiding principles · California Community Colleges · CPL Initiative</a:t>
            </a:r>
          </a:p>
        </p:txBody>
      </p:sp>
      <p:sp>
        <p:nvSpPr>
          <p:cNvPr id="25" name="TextBox 24"/>
          <p:cNvSpPr txBox="1"/>
          <p:nvPr/>
        </p:nvSpPr>
        <p:spPr>
          <a:xfrm>
            <a:off x="11247120" y="6455664"/>
            <a:ext cx="640080" cy="320040"/>
          </a:xfrm>
          <a:prstGeom prst="rect">
            <a:avLst/>
          </a:prstGeom>
          <a:noFill/>
        </p:spPr>
        <p:txBody>
          <a:bodyPr wrap="square" anchor="ctr" lIns="0" rIns="0" tIns="0" bIns="0">
            <a:spAutoFit/>
          </a:bodyPr>
          <a:lstStyle/>
          <a:p>
            <a:pPr algn="r">
              <a:lnSpc>
                <a:spcPct val="100000"/>
              </a:lnSpc>
              <a:spcBef>
                <a:spcPts val="0"/>
              </a:spcBef>
              <a:spcAft>
                <a:spcPts val="400"/>
              </a:spcAft>
            </a:pPr>
            <a:r>
              <a:rPr sz="1000" b="0" i="0">
                <a:solidFill>
                  <a:srgbClr val="556372"/>
                </a:solidFill>
                <a:latin typeface="Calibri"/>
              </a:rPr>
              <a:t>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