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 open]</a:t>
            </a:r>
          </a:p>
          <a:p>
            <a:r>
              <a:t>Good morning, and thank you. I'm excited to give the Board a quick update on the Credit for Prior Learning Initiative — and to celebrate a real milestone. This year, the state made a direct investment in CPL as part of California's Vision 2030 commitment. I'll take about 15 minutes on where the initiative stands, then hand off to our Fire Technology faculty leaders from San Diego Miramar, and we'll leave 15 minutes for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 the vision in one slide]</a:t>
            </a:r>
          </a:p>
          <a:p>
            <a:r>
              <a:t>Here's the whole philosophy on one slide. California's CPL Initiative is student-first, college-supported, and employer-engaged. And it's about a shift in posture.</a:t>
            </a:r>
          </a:p>
          <a:p>
            <a:r>
              <a:t>• Passive to proactive — we no longer wait for a student to know to ask for credit; the system reaches out to them.</a:t>
            </a:r>
          </a:p>
          <a:p>
            <a:r>
              <a:t>• Siloed to shared — a faculty workgroup writes a credit recommendation once, and colleges across the state adopt it, instead of 116 colleges solving the same problem alone.</a:t>
            </a:r>
          </a:p>
          <a:p>
            <a:r>
              <a:t>• And college to career — and, just as importantly, career back to college. We honor what people already learned on the job, in the military, and in life, and we turn it into a credential.</a:t>
            </a:r>
          </a:p>
          <a:p>
            <a:r>
              <a:t>Everything I show you next is an example of one of those three shifts.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 — the numbers]</a:t>
            </a:r>
          </a:p>
          <a:p>
            <a:r>
              <a:t>First, the scale. To date, CPL has served more than 50,000 students across California — roughly half military and veterans, half workforce and other learners. Those students have identified 236,000 units of eligible prior learning, and we've transcribed 104,000 of those units onto student records — real credit, on real transcripts.</a:t>
            </a:r>
          </a:p>
          <a:p>
            <a:r>
              <a:t>That translates to about $326 million in tuition and time savings for students so far — and a projected $1.3 billion in economic impact over 20 years.</a:t>
            </a:r>
          </a:p>
          <a:p>
            <a:r>
              <a:t>Underneath that: nearly 12,700 credit recommendations, and 102 active colleges out of 115, with 15 leading colleges already at scale. This is no longer a pilot — it's statewide infrastructure. All of these numbers are live on our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 — THE celebration]</a:t>
            </a:r>
          </a:p>
          <a:p>
            <a:r>
              <a:t>And this is what we're here to celebrate. In the 2026–27 budget, California invested directly in CPL as a Vision 2030 priority — two pieces.</a:t>
            </a:r>
          </a:p>
          <a:p>
            <a:r>
              <a:t>First, $7 million ongoing to sustain the statewide infrastructure and operations — the MAP platform, the shared credit-recommendation library, and the staffing that keeps this running for every college. That's the part that makes CPL a permanent system, not a grant that sunsets.</a:t>
            </a:r>
          </a:p>
          <a:p>
            <a:r>
              <a:t>Second, $35 million one-time to fund local implementation — money that flows to colleges to build their own CPL capacity. And critically, that money is allocated by student outcomes, using the COBI Implementation Funding model. Let me show you how that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sec — the three priorities]</a:t>
            </a:r>
          </a:p>
          <a:p>
            <a:r>
              <a:t>The $35 million doesn't go out as a flat check. Every college earns its share based on measured outcomes across three priorities — and it's fully transparent in our COBI Implementation Funding model, where you can see every dollar computed live.</a:t>
            </a:r>
          </a:p>
          <a:p>
            <a:r>
              <a:t>Priority 1 is completion — 30% of the pool rewards actual certificates and degrees earned through CPL. That's the ultimate goal: not just credit, but credentials.</a:t>
            </a:r>
          </a:p>
          <a:p>
            <a:r>
              <a:t>Priority 2 is access — the largest share at 42% — because the first job is simply reaching more students and getting their prior learning recognized.</a:t>
            </a:r>
          </a:p>
          <a:p>
            <a:r>
              <a:t>And Priority 3, 28%, is capacity and mobility — building the systems that make that credit visible, documented, and portable from college to college.</a:t>
            </a:r>
          </a:p>
          <a:p>
            <a:r>
              <a:t>And we wrapped it in equity guardrails: a $150,000 minimum so small colleges can stand up a real program, a rural carve-out, and support for our noncredit feeder institutions. Outcomes-based — but no college left behind.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 passive to proactive, made real]</a:t>
            </a:r>
          </a:p>
          <a:p>
            <a:r>
              <a:t>Here's 'passive to proactive' made real. This year we soft-launched the new CPL Student Portal — creditforbeingyou.org. It's one front door for every Californian: 'Get Credit for Being You.'</a:t>
            </a:r>
          </a:p>
          <a:p>
            <a:r>
              <a:t>A student — a veteran, a working parent, a career-changer — creates an account, tells us what they've done, and the system helps them turn that experience into college credit. Before, credit for prior learning was something you had to know existed and know to ask for. Now it comes to the student. This is early, but it's the model for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 — the human proof]</a:t>
            </a:r>
          </a:p>
          <a:p>
            <a:r>
              <a:t>Behind every number is a person. These are real students from our My CPL Story collection. Luis — a Marine sergeant — got 26 credits from his Joint Services Transcript. Nadine saved a full year toward her aviation maintenance degree with her industry certifications. Eric, an auto technician, earned 27 credits and is now teaching at Rio Hondo. Sierra is applying her military first-aid training to a kinesiology degree. And John — a firefighter — earned 29 credits toward a public safety degree.</a:t>
            </a:r>
          </a:p>
          <a:p>
            <a:r>
              <a:t>Different fields, different backgrounds, same story: what they already knew counted.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 PLAY VIDEO]</a:t>
            </a:r>
          </a:p>
          <a:p>
            <a:r>
              <a:t>I want you to hear this directly from a student. This is a two-minute story of an EMT at Moreno Valley College — someone whose emergency medical training became college credit and a faster path to a degree.</a:t>
            </a:r>
          </a:p>
          <a:p>
            <a:r>
              <a:t>[Click play. Let the video run. No need to narrate.]</a:t>
            </a:r>
          </a:p>
          <a:p>
            <a:r>
              <a:t>ACTION ITEM: drop the 2-minute EMT video onto this slide (Insert → Video)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 — how it stacks]</a:t>
            </a:r>
          </a:p>
          <a:p>
            <a:r>
              <a:t>Let me show you how that EMT's credit actually stacks into a degree. This is illustrative, using Moreno Valley's new Bachelor of Science in Emergency Management, approved this past March.</a:t>
            </a:r>
          </a:p>
          <a:p>
            <a:r>
              <a:t>It starts with prior learning — EMT certification, a fire academy, EMS and first-responder training, military service. That maps against our statewide credit recommendations into real CPL credit — for example, 7 units for EMT, up to 24 for a basic fire academy. That credit applies to the qualifying associate degree that gates entry to the bachelor's. So the student walks into the B.S. program with credit already in hand — reaching the degree faster and cheaper, without repeating what they already know. That's CPL doing exactly what it's designed to do.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 built WITH the field]</a:t>
            </a:r>
          </a:p>
          <a:p>
            <a:r>
              <a:t>None of this works if it's built in a vacuum. CPL is built with the field. Our discipline faculty and the Academic Senate author the credit recommendations — faculty own the academic judgment. Employers and industry bring the certifications — ASE, the apprenticeship trusts, and more — that map to credit. The military brings the Joint Services Transcript. And national partners like CAEL and ACE anchor the quality.</a:t>
            </a:r>
          </a:p>
          <a:p>
            <a:r>
              <a:t>The newest one is on the next slide, and it's a big one — a collaboration with Cal OES and the state fire training system. Which is the perfect place to hand off.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 — set up Miramar, then hand off]</a:t>
            </a:r>
          </a:p>
          <a:p>
            <a:r>
              <a:t>Fire Technology is our flagship example of the whole model working. A statewide faculty workgroup produced 294 Fire credit recommendations, which have already been adopted 342 times, with 45 colleges eligible to adopt — out of roughly 40 colleges statewide running state-fire-training programs and academies.</a:t>
            </a:r>
          </a:p>
          <a:p>
            <a:r>
              <a:t>And the new frontier: a collaboration with Cal OES and CSTI to articulate CSTI certifications and offer stackable CSTI credit inside colleges' existing Fire and Public Safety courses. That expands the state's capacity to train first responders — and to train the trainers.</a:t>
            </a:r>
          </a:p>
          <a:p>
            <a:r>
              <a:t>The people who led that workgroup are here. So let me hand it to our faculty and dean from San Diego Miramar College, who will speak from their own experience.</a:t>
            </a:r>
          </a:p>
          <a:p>
            <a:r>
              <a:t>[Hand off. Their segment is ~15 min, no slides. This slide can stay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 — if you close the segment]</a:t>
            </a:r>
          </a:p>
          <a:p>
            <a:r>
              <a:t>Thank you again. Student-first, college-supported, employer-engaged — that's California's CPL Initiative, and with this year's investment it's built to last. We're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50292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ccco_seal.png"/>
          <p:cNvPicPr>
            <a:picLocks noChangeAspect="1"/>
          </p:cNvPicPr>
          <p:nvPr/>
        </p:nvPicPr>
        <p:blipFill>
          <a:blip r:embed="rId2"/>
          <a:stretch>
            <a:fillRect/>
          </a:stretch>
        </p:blipFill>
        <p:spPr>
          <a:xfrm>
            <a:off x="5541264" y="502920"/>
            <a:ext cx="1531620" cy="1234440"/>
          </a:xfrm>
          <a:prstGeom prst="rect">
            <a:avLst/>
          </a:prstGeom>
        </p:spPr>
      </p:pic>
      <p:sp>
        <p:nvSpPr>
          <p:cNvPr id="5" name="TextBox 4"/>
          <p:cNvSpPr txBox="1"/>
          <p:nvPr/>
        </p:nvSpPr>
        <p:spPr>
          <a:xfrm>
            <a:off x="914400" y="1965960"/>
            <a:ext cx="10362895" cy="457200"/>
          </a:xfrm>
          <a:prstGeom prst="rect">
            <a:avLst/>
          </a:prstGeom>
          <a:noFill/>
        </p:spPr>
        <p:txBody>
          <a:bodyPr wrap="square" anchor="t" lIns="0" rIns="0" tIns="0" bIns="0">
            <a:spAutoFit/>
          </a:bodyPr>
          <a:lstStyle/>
          <a:p>
            <a:pPr algn="ctr">
              <a:lnSpc>
                <a:spcPct val="100000"/>
              </a:lnSpc>
              <a:spcBef>
                <a:spcPts val="0"/>
              </a:spcBef>
              <a:spcAft>
                <a:spcPts val="400"/>
              </a:spcAft>
            </a:pPr>
            <a:r>
              <a:rPr sz="1700" b="1" i="0">
                <a:solidFill>
                  <a:srgbClr val="E8A32C"/>
                </a:solidFill>
                <a:latin typeface="Calibri"/>
              </a:rPr>
              <a:t>CREDIT FOR PRIOR LEARNING (CPL) INITIATIVE</a:t>
            </a:r>
          </a:p>
        </p:txBody>
      </p:sp>
      <p:sp>
        <p:nvSpPr>
          <p:cNvPr id="6" name="TextBox 5"/>
          <p:cNvSpPr txBox="1"/>
          <p:nvPr/>
        </p:nvSpPr>
        <p:spPr>
          <a:xfrm>
            <a:off x="914400" y="2468880"/>
            <a:ext cx="10362895" cy="1371600"/>
          </a:xfrm>
          <a:prstGeom prst="rect">
            <a:avLst/>
          </a:prstGeom>
          <a:noFill/>
        </p:spPr>
        <p:txBody>
          <a:bodyPr wrap="square" anchor="t" lIns="0" rIns="0" tIns="0" bIns="0">
            <a:spAutoFit/>
          </a:bodyPr>
          <a:lstStyle/>
          <a:p>
            <a:pPr algn="ctr">
              <a:lnSpc>
                <a:spcPct val="100000"/>
              </a:lnSpc>
              <a:spcBef>
                <a:spcPts val="0"/>
              </a:spcBef>
              <a:spcAft>
                <a:spcPts val="400"/>
              </a:spcAft>
            </a:pPr>
            <a:r>
              <a:rPr sz="4000" b="1" i="0">
                <a:solidFill>
                  <a:srgbClr val="FFFFFF"/>
                </a:solidFill>
                <a:latin typeface="Cambria"/>
              </a:rPr>
              <a:t>Update to the Board of Governors</a:t>
            </a:r>
          </a:p>
        </p:txBody>
      </p:sp>
      <p:sp>
        <p:nvSpPr>
          <p:cNvPr id="7" name="TextBox 6"/>
          <p:cNvSpPr txBox="1"/>
          <p:nvPr/>
        </p:nvSpPr>
        <p:spPr>
          <a:xfrm>
            <a:off x="914400" y="3566160"/>
            <a:ext cx="10362895" cy="731520"/>
          </a:xfrm>
          <a:prstGeom prst="rect">
            <a:avLst/>
          </a:prstGeom>
          <a:noFill/>
        </p:spPr>
        <p:txBody>
          <a:bodyPr wrap="square" anchor="t" lIns="0" rIns="0" tIns="0" bIns="0">
            <a:spAutoFit/>
          </a:bodyPr>
          <a:lstStyle/>
          <a:p>
            <a:pPr algn="ctr">
              <a:lnSpc>
                <a:spcPct val="100000"/>
              </a:lnSpc>
              <a:spcBef>
                <a:spcPts val="0"/>
              </a:spcBef>
              <a:spcAft>
                <a:spcPts val="400"/>
              </a:spcAft>
            </a:pPr>
            <a:r>
              <a:rPr sz="1900" b="0" i="1">
                <a:solidFill>
                  <a:srgbClr val="CFDDEE"/>
                </a:solidFill>
                <a:latin typeface="Calibri"/>
              </a:rPr>
              <a:t>Celebrating California’s 2026–27 Investment in Student Success</a:t>
            </a:r>
          </a:p>
        </p:txBody>
      </p:sp>
      <p:sp>
        <p:nvSpPr>
          <p:cNvPr id="8" name="TextBox 7"/>
          <p:cNvSpPr txBox="1"/>
          <p:nvPr/>
        </p:nvSpPr>
        <p:spPr>
          <a:xfrm>
            <a:off x="914400" y="5532120"/>
            <a:ext cx="10362895" cy="640080"/>
          </a:xfrm>
          <a:prstGeom prst="rect">
            <a:avLst/>
          </a:prstGeom>
          <a:noFill/>
        </p:spPr>
        <p:txBody>
          <a:bodyPr wrap="square" anchor="t" lIns="0" rIns="0" tIns="0" bIns="0">
            <a:spAutoFit/>
          </a:bodyPr>
          <a:lstStyle/>
          <a:p>
            <a:pPr algn="ctr">
              <a:lnSpc>
                <a:spcPct val="100000"/>
              </a:lnSpc>
              <a:spcBef>
                <a:spcPts val="0"/>
              </a:spcBef>
              <a:spcAft>
                <a:spcPts val="200"/>
              </a:spcAft>
            </a:pPr>
            <a:r>
              <a:rPr sz="1400" b="1" i="0">
                <a:solidFill>
                  <a:srgbClr val="FFFFFF"/>
                </a:solidFill>
                <a:latin typeface="Calibri"/>
              </a:rPr>
              <a:t>Board of Governors Meeting  ·  July 2026</a:t>
            </a:r>
          </a:p>
          <a:p>
            <a:pPr algn="ctr">
              <a:lnSpc>
                <a:spcPct val="100000"/>
              </a:lnSpc>
              <a:spcBef>
                <a:spcPts val="0"/>
              </a:spcBef>
              <a:spcAft>
                <a:spcPts val="200"/>
              </a:spcAft>
            </a:pPr>
            <a:r>
              <a:rPr sz="1250" b="0" i="0">
                <a:solidFill>
                  <a:srgbClr val="B9CBE0"/>
                </a:solidFill>
                <a:latin typeface="Calibri"/>
              </a:rPr>
              <a:t>California Community Colleges Chancellor’s Office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40080"/>
            <a:ext cx="10637215" cy="3108960"/>
          </a:xfrm>
          <a:prstGeom prst="rect">
            <a:avLst/>
          </a:prstGeom>
          <a:noFill/>
        </p:spPr>
        <p:txBody>
          <a:bodyPr wrap="square" anchor="t" lIns="0" rIns="0" tIns="0" bIns="0">
            <a:spAutoFit/>
          </a:bodyPr>
          <a:lstStyle/>
          <a:p>
            <a:pPr algn="ctr">
              <a:lnSpc>
                <a:spcPct val="100000"/>
              </a:lnSpc>
              <a:spcBef>
                <a:spcPts val="0"/>
              </a:spcBef>
              <a:spcAft>
                <a:spcPts val="400"/>
              </a:spcAft>
            </a:pPr>
            <a:r>
              <a:rPr sz="3300" b="1" i="0">
                <a:solidFill>
                  <a:srgbClr val="153763"/>
                </a:solidFill>
                <a:latin typeface="Cambria"/>
              </a:rPr>
              <a:t>California’s CPL Initiative is</a:t>
            </a:r>
          </a:p>
          <a:p>
            <a:pPr algn="ctr">
              <a:lnSpc>
                <a:spcPct val="100000"/>
              </a:lnSpc>
              <a:spcBef>
                <a:spcPts val="0"/>
              </a:spcBef>
              <a:spcAft>
                <a:spcPts val="400"/>
              </a:spcAft>
            </a:pPr>
            <a:r>
              <a:rPr sz="3300" b="1" i="0">
                <a:solidFill>
                  <a:srgbClr val="153763"/>
                </a:solidFill>
                <a:latin typeface="Cambria"/>
              </a:rPr>
              <a:t>Student-First, College-Supported, Employer-Engaged:</a:t>
            </a:r>
          </a:p>
          <a:p>
            <a:pPr algn="ctr">
              <a:lnSpc>
                <a:spcPct val="100000"/>
              </a:lnSpc>
              <a:spcBef>
                <a:spcPts val="0"/>
              </a:spcBef>
              <a:spcAft>
                <a:spcPts val="400"/>
              </a:spcAft>
            </a:pPr>
            <a:r>
              <a:rPr sz="3300" b="1" i="0">
                <a:solidFill>
                  <a:srgbClr val="153763"/>
                </a:solidFill>
                <a:latin typeface="Cambria"/>
              </a:rPr>
              <a:t>Moving From…</a:t>
            </a:r>
          </a:p>
        </p:txBody>
      </p:sp>
      <p:sp>
        <p:nvSpPr>
          <p:cNvPr id="4" name="Rectangle 3"/>
          <p:cNvSpPr/>
          <p:nvPr/>
        </p:nvSpPr>
        <p:spPr>
          <a:xfrm>
            <a:off x="777240" y="3794760"/>
            <a:ext cx="10637215" cy="251460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977639"/>
            <a:ext cx="10180015" cy="2148840"/>
          </a:xfrm>
          <a:prstGeom prst="rect">
            <a:avLst/>
          </a:prstGeom>
          <a:noFill/>
        </p:spPr>
        <p:txBody>
          <a:bodyPr wrap="square" anchor="ctr" lIns="0" rIns="0" tIns="0" bIns="0">
            <a:spAutoFit/>
          </a:bodyPr>
          <a:lstStyle/>
          <a:p>
            <a:pPr algn="ctr">
              <a:lnSpc>
                <a:spcPct val="100000"/>
              </a:lnSpc>
              <a:spcBef>
                <a:spcPts val="0"/>
              </a:spcBef>
              <a:spcAft>
                <a:spcPts val="600"/>
              </a:spcAft>
            </a:pPr>
            <a:r>
              <a:rPr sz="3000" b="0" i="0">
                <a:solidFill>
                  <a:srgbClr val="FFFFFF"/>
                </a:solidFill>
                <a:latin typeface="Cambria"/>
              </a:rPr>
              <a:t>Passive  →  Proactive</a:t>
            </a:r>
          </a:p>
          <a:p>
            <a:pPr algn="ctr">
              <a:lnSpc>
                <a:spcPct val="100000"/>
              </a:lnSpc>
              <a:spcBef>
                <a:spcPts val="0"/>
              </a:spcBef>
              <a:spcAft>
                <a:spcPts val="600"/>
              </a:spcAft>
            </a:pPr>
            <a:r>
              <a:rPr sz="3000" b="0" i="0">
                <a:solidFill>
                  <a:srgbClr val="FFFFFF"/>
                </a:solidFill>
                <a:latin typeface="Cambria"/>
              </a:rPr>
              <a:t>Siloed  →  Shared</a:t>
            </a:r>
          </a:p>
          <a:p>
            <a:pPr algn="ctr">
              <a:lnSpc>
                <a:spcPct val="100000"/>
              </a:lnSpc>
              <a:spcBef>
                <a:spcPts val="0"/>
              </a:spcBef>
              <a:spcAft>
                <a:spcPts val="600"/>
              </a:spcAft>
            </a:pPr>
            <a:r>
              <a:rPr sz="3000" b="0" i="0">
                <a:solidFill>
                  <a:srgbClr val="FFFFFF"/>
                </a:solidFill>
                <a:latin typeface="Cambria"/>
              </a:rPr>
              <a:t>College  →  Career … &amp; vice versa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D5C9E"/>
                </a:solidFill>
                <a:latin typeface="Calibri"/>
              </a:rPr>
              <a:t>CPL IN 2026</a:t>
            </a:r>
          </a:p>
        </p:txBody>
      </p:sp>
      <p:sp>
        <p:nvSpPr>
          <p:cNvPr id="4" name="TextBox 3"/>
          <p:cNvSpPr txBox="1"/>
          <p:nvPr/>
        </p:nvSpPr>
        <p:spPr>
          <a:xfrm>
            <a:off x="548640" y="841247"/>
            <a:ext cx="11064240" cy="914400"/>
          </a:xfrm>
          <a:prstGeom prst="rect">
            <a:avLst/>
          </a:prstGeom>
          <a:noFill/>
        </p:spPr>
        <p:txBody>
          <a:bodyPr wrap="square" anchor="t" lIns="0" rIns="0" tIns="0" bIns="0">
            <a:spAutoFit/>
          </a:bodyPr>
          <a:lstStyle/>
          <a:p>
            <a:pPr algn="l">
              <a:lnSpc>
                <a:spcPct val="98000"/>
              </a:lnSpc>
              <a:spcBef>
                <a:spcPts val="0"/>
              </a:spcBef>
              <a:spcAft>
                <a:spcPts val="0"/>
              </a:spcAft>
            </a:pPr>
            <a:r>
              <a:rPr sz="3000" b="1" i="0">
                <a:solidFill>
                  <a:srgbClr val="153763"/>
                </a:solidFill>
                <a:latin typeface="Cambria"/>
              </a:rPr>
              <a:t>Statewide Momentum</a:t>
            </a:r>
          </a:p>
        </p:txBody>
      </p:sp>
      <p:sp>
        <p:nvSpPr>
          <p:cNvPr id="5" name="Rectangle 4"/>
          <p:cNvSpPr/>
          <p:nvPr/>
        </p:nvSpPr>
        <p:spPr>
          <a:xfrm>
            <a:off x="566928" y="1426464"/>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65960"/>
            <a:ext cx="3639312" cy="178308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75688"/>
            <a:ext cx="3364992" cy="1563624"/>
          </a:xfrm>
          <a:prstGeom prst="rect">
            <a:avLst/>
          </a:prstGeom>
          <a:noFill/>
        </p:spPr>
        <p:txBody>
          <a:bodyPr wrap="square" anchor="ctr" lIns="0" rIns="0" tIns="0" bIns="0">
            <a:spAutoFit/>
          </a:bodyPr>
          <a:lstStyle/>
          <a:p>
            <a:pPr algn="ctr">
              <a:lnSpc>
                <a:spcPct val="98000"/>
              </a:lnSpc>
              <a:spcBef>
                <a:spcPts val="0"/>
              </a:spcBef>
              <a:spcAft>
                <a:spcPts val="200"/>
              </a:spcAft>
            </a:pPr>
            <a:r>
              <a:rPr sz="3000" b="1" i="0">
                <a:solidFill>
                  <a:srgbClr val="153763"/>
                </a:solidFill>
                <a:latin typeface="Cambria"/>
              </a:rPr>
              <a:t>50,154</a:t>
            </a:r>
          </a:p>
          <a:p>
            <a:pPr algn="ctr">
              <a:lnSpc>
                <a:spcPct val="98000"/>
              </a:lnSpc>
              <a:spcBef>
                <a:spcPts val="0"/>
              </a:spcBef>
              <a:spcAft>
                <a:spcPts val="200"/>
              </a:spcAft>
            </a:pPr>
            <a:r>
              <a:rPr sz="1050" b="1" i="0">
                <a:solidFill>
                  <a:srgbClr val="1D5C9E"/>
                </a:solidFill>
                <a:latin typeface="Calibri"/>
              </a:rPr>
              <a:t>since launch</a:t>
            </a:r>
          </a:p>
          <a:p>
            <a:pPr algn="ctr">
              <a:lnSpc>
                <a:spcPct val="98000"/>
              </a:lnSpc>
              <a:spcBef>
                <a:spcPts val="0"/>
              </a:spcBef>
              <a:spcAft>
                <a:spcPts val="200"/>
              </a:spcAft>
            </a:pPr>
            <a:r>
              <a:rPr sz="1150" b="0" i="0">
                <a:solidFill>
                  <a:srgbClr val="556372"/>
                </a:solidFill>
                <a:latin typeface="Calibri"/>
              </a:rPr>
              <a:t>Students served</a:t>
            </a:r>
          </a:p>
        </p:txBody>
      </p:sp>
      <p:sp>
        <p:nvSpPr>
          <p:cNvPr id="8" name="Rounded Rectangle 7"/>
          <p:cNvSpPr/>
          <p:nvPr/>
        </p:nvSpPr>
        <p:spPr>
          <a:xfrm>
            <a:off x="4361688" y="1965960"/>
            <a:ext cx="3639312" cy="178308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8848" y="2075688"/>
            <a:ext cx="3364992" cy="1563624"/>
          </a:xfrm>
          <a:prstGeom prst="rect">
            <a:avLst/>
          </a:prstGeom>
          <a:noFill/>
        </p:spPr>
        <p:txBody>
          <a:bodyPr wrap="square" anchor="ctr" lIns="0" rIns="0" tIns="0" bIns="0">
            <a:spAutoFit/>
          </a:bodyPr>
          <a:lstStyle/>
          <a:p>
            <a:pPr algn="ctr">
              <a:lnSpc>
                <a:spcPct val="98000"/>
              </a:lnSpc>
              <a:spcBef>
                <a:spcPts val="0"/>
              </a:spcBef>
              <a:spcAft>
                <a:spcPts val="200"/>
              </a:spcAft>
            </a:pPr>
            <a:r>
              <a:rPr sz="3000" b="1" i="0">
                <a:solidFill>
                  <a:srgbClr val="2E7D46"/>
                </a:solidFill>
                <a:latin typeface="Cambria"/>
              </a:rPr>
              <a:t>$326M</a:t>
            </a:r>
          </a:p>
          <a:p>
            <a:pPr algn="ctr">
              <a:lnSpc>
                <a:spcPct val="98000"/>
              </a:lnSpc>
              <a:spcBef>
                <a:spcPts val="0"/>
              </a:spcBef>
              <a:spcAft>
                <a:spcPts val="200"/>
              </a:spcAft>
            </a:pPr>
            <a:r>
              <a:rPr sz="1050" b="1" i="0">
                <a:solidFill>
                  <a:srgbClr val="1D5C9E"/>
                </a:solidFill>
                <a:latin typeface="Calibri"/>
              </a:rPr>
              <a:t>to date</a:t>
            </a:r>
          </a:p>
          <a:p>
            <a:pPr algn="ctr">
              <a:lnSpc>
                <a:spcPct val="98000"/>
              </a:lnSpc>
              <a:spcBef>
                <a:spcPts val="0"/>
              </a:spcBef>
              <a:spcAft>
                <a:spcPts val="200"/>
              </a:spcAft>
            </a:pPr>
            <a:r>
              <a:rPr sz="1150" b="0" i="0">
                <a:solidFill>
                  <a:srgbClr val="556372"/>
                </a:solidFill>
                <a:latin typeface="Calibri"/>
              </a:rPr>
              <a:t>Student tuition &amp; time savings</a:t>
            </a:r>
          </a:p>
        </p:txBody>
      </p:sp>
      <p:sp>
        <p:nvSpPr>
          <p:cNvPr id="10" name="Rounded Rectangle 9"/>
          <p:cNvSpPr/>
          <p:nvPr/>
        </p:nvSpPr>
        <p:spPr>
          <a:xfrm>
            <a:off x="8174736" y="1965960"/>
            <a:ext cx="3639312" cy="178308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1896" y="2075688"/>
            <a:ext cx="3364992" cy="1563624"/>
          </a:xfrm>
          <a:prstGeom prst="rect">
            <a:avLst/>
          </a:prstGeom>
          <a:noFill/>
        </p:spPr>
        <p:txBody>
          <a:bodyPr wrap="square" anchor="ctr" lIns="0" rIns="0" tIns="0" bIns="0">
            <a:spAutoFit/>
          </a:bodyPr>
          <a:lstStyle/>
          <a:p>
            <a:pPr algn="ctr">
              <a:lnSpc>
                <a:spcPct val="98000"/>
              </a:lnSpc>
              <a:spcBef>
                <a:spcPts val="0"/>
              </a:spcBef>
              <a:spcAft>
                <a:spcPts val="200"/>
              </a:spcAft>
            </a:pPr>
            <a:r>
              <a:rPr sz="3000" b="1" i="0">
                <a:solidFill>
                  <a:srgbClr val="153763"/>
                </a:solidFill>
                <a:latin typeface="Cambria"/>
              </a:rPr>
              <a:t>12,679</a:t>
            </a:r>
          </a:p>
          <a:p>
            <a:pPr algn="ctr">
              <a:lnSpc>
                <a:spcPct val="98000"/>
              </a:lnSpc>
              <a:spcBef>
                <a:spcPts val="0"/>
              </a:spcBef>
              <a:spcAft>
                <a:spcPts val="200"/>
              </a:spcAft>
            </a:pPr>
            <a:r>
              <a:rPr sz="1050" b="1" i="0">
                <a:solidFill>
                  <a:srgbClr val="1D5C9E"/>
                </a:solidFill>
                <a:latin typeface="Calibri"/>
              </a:rPr>
              <a:t>1,297 statewide · 11,382 local</a:t>
            </a:r>
          </a:p>
          <a:p>
            <a:pPr algn="ctr">
              <a:lnSpc>
                <a:spcPct val="98000"/>
              </a:lnSpc>
              <a:spcBef>
                <a:spcPts val="0"/>
              </a:spcBef>
              <a:spcAft>
                <a:spcPts val="200"/>
              </a:spcAft>
            </a:pPr>
            <a:r>
              <a:rPr sz="1150" b="0" i="0">
                <a:solidFill>
                  <a:srgbClr val="556372"/>
                </a:solidFill>
                <a:latin typeface="Calibri"/>
              </a:rPr>
              <a:t>Credit recommendations</a:t>
            </a:r>
          </a:p>
        </p:txBody>
      </p:sp>
      <p:sp>
        <p:nvSpPr>
          <p:cNvPr id="12" name="Rounded Rectangle 11"/>
          <p:cNvSpPr/>
          <p:nvPr/>
        </p:nvSpPr>
        <p:spPr>
          <a:xfrm>
            <a:off x="548640" y="3950208"/>
            <a:ext cx="3639312" cy="178308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59936"/>
            <a:ext cx="3364992" cy="1563624"/>
          </a:xfrm>
          <a:prstGeom prst="rect">
            <a:avLst/>
          </a:prstGeom>
          <a:noFill/>
        </p:spPr>
        <p:txBody>
          <a:bodyPr wrap="square" anchor="ctr" lIns="0" rIns="0" tIns="0" bIns="0">
            <a:spAutoFit/>
          </a:bodyPr>
          <a:lstStyle/>
          <a:p>
            <a:pPr algn="ctr">
              <a:lnSpc>
                <a:spcPct val="98000"/>
              </a:lnSpc>
              <a:spcBef>
                <a:spcPts val="0"/>
              </a:spcBef>
              <a:spcAft>
                <a:spcPts val="200"/>
              </a:spcAft>
            </a:pPr>
            <a:r>
              <a:rPr sz="3000" b="1" i="0">
                <a:solidFill>
                  <a:srgbClr val="1D5C9E"/>
                </a:solidFill>
                <a:latin typeface="Cambria"/>
              </a:rPr>
              <a:t>102</a:t>
            </a:r>
          </a:p>
          <a:p>
            <a:pPr algn="ctr">
              <a:lnSpc>
                <a:spcPct val="98000"/>
              </a:lnSpc>
              <a:spcBef>
                <a:spcPts val="0"/>
              </a:spcBef>
              <a:spcAft>
                <a:spcPts val="200"/>
              </a:spcAft>
            </a:pPr>
            <a:r>
              <a:rPr sz="1050" b="1" i="0">
                <a:solidFill>
                  <a:srgbClr val="1D5C9E"/>
                </a:solidFill>
                <a:latin typeface="Calibri"/>
              </a:rPr>
              <a:t>of 115 · 15 leading</a:t>
            </a:r>
          </a:p>
          <a:p>
            <a:pPr algn="ctr">
              <a:lnSpc>
                <a:spcPct val="98000"/>
              </a:lnSpc>
              <a:spcBef>
                <a:spcPts val="0"/>
              </a:spcBef>
              <a:spcAft>
                <a:spcPts val="200"/>
              </a:spcAft>
            </a:pPr>
            <a:r>
              <a:rPr sz="1150" b="0" i="0">
                <a:solidFill>
                  <a:srgbClr val="556372"/>
                </a:solidFill>
                <a:latin typeface="Calibri"/>
              </a:rPr>
              <a:t>Active colleges</a:t>
            </a:r>
          </a:p>
        </p:txBody>
      </p:sp>
      <p:sp>
        <p:nvSpPr>
          <p:cNvPr id="14" name="Rounded Rectangle 13"/>
          <p:cNvSpPr/>
          <p:nvPr/>
        </p:nvSpPr>
        <p:spPr>
          <a:xfrm>
            <a:off x="4361688" y="3950208"/>
            <a:ext cx="3639312" cy="178308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4059936"/>
            <a:ext cx="3364992" cy="1563624"/>
          </a:xfrm>
          <a:prstGeom prst="rect">
            <a:avLst/>
          </a:prstGeom>
          <a:noFill/>
        </p:spPr>
        <p:txBody>
          <a:bodyPr wrap="square" anchor="ctr" lIns="0" rIns="0" tIns="0" bIns="0">
            <a:spAutoFit/>
          </a:bodyPr>
          <a:lstStyle/>
          <a:p>
            <a:pPr algn="ctr">
              <a:lnSpc>
                <a:spcPct val="98000"/>
              </a:lnSpc>
              <a:spcBef>
                <a:spcPts val="0"/>
              </a:spcBef>
              <a:spcAft>
                <a:spcPts val="200"/>
              </a:spcAft>
            </a:pPr>
            <a:r>
              <a:rPr sz="3000" b="1" i="0">
                <a:solidFill>
                  <a:srgbClr val="153763"/>
                </a:solidFill>
                <a:latin typeface="Cambria"/>
              </a:rPr>
              <a:t>104K</a:t>
            </a:r>
          </a:p>
          <a:p>
            <a:pPr algn="ctr">
              <a:lnSpc>
                <a:spcPct val="98000"/>
              </a:lnSpc>
              <a:spcBef>
                <a:spcPts val="0"/>
              </a:spcBef>
              <a:spcAft>
                <a:spcPts val="200"/>
              </a:spcAft>
            </a:pPr>
            <a:r>
              <a:rPr sz="1050" b="1" i="0">
                <a:solidFill>
                  <a:srgbClr val="1D5C9E"/>
                </a:solidFill>
                <a:latin typeface="Calibri"/>
              </a:rPr>
              <a:t>236K identified as eligible</a:t>
            </a:r>
          </a:p>
          <a:p>
            <a:pPr algn="ctr">
              <a:lnSpc>
                <a:spcPct val="98000"/>
              </a:lnSpc>
              <a:spcBef>
                <a:spcPts val="0"/>
              </a:spcBef>
              <a:spcAft>
                <a:spcPts val="200"/>
              </a:spcAft>
            </a:pPr>
            <a:r>
              <a:rPr sz="1150" b="0" i="0">
                <a:solidFill>
                  <a:srgbClr val="556372"/>
                </a:solidFill>
                <a:latin typeface="Calibri"/>
              </a:rPr>
              <a:t>Units transcribed to records</a:t>
            </a:r>
          </a:p>
        </p:txBody>
      </p:sp>
      <p:sp>
        <p:nvSpPr>
          <p:cNvPr id="16" name="Rounded Rectangle 15"/>
          <p:cNvSpPr/>
          <p:nvPr/>
        </p:nvSpPr>
        <p:spPr>
          <a:xfrm>
            <a:off x="8174736" y="3950208"/>
            <a:ext cx="3639312" cy="178308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4059936"/>
            <a:ext cx="3364992" cy="1563624"/>
          </a:xfrm>
          <a:prstGeom prst="rect">
            <a:avLst/>
          </a:prstGeom>
          <a:noFill/>
        </p:spPr>
        <p:txBody>
          <a:bodyPr wrap="square" anchor="ctr" lIns="0" rIns="0" tIns="0" bIns="0">
            <a:spAutoFit/>
          </a:bodyPr>
          <a:lstStyle/>
          <a:p>
            <a:pPr algn="ctr">
              <a:lnSpc>
                <a:spcPct val="98000"/>
              </a:lnSpc>
              <a:spcBef>
                <a:spcPts val="0"/>
              </a:spcBef>
              <a:spcAft>
                <a:spcPts val="200"/>
              </a:spcAft>
            </a:pPr>
            <a:r>
              <a:rPr sz="3000" b="1" i="0">
                <a:solidFill>
                  <a:srgbClr val="2E7D46"/>
                </a:solidFill>
                <a:latin typeface="Cambria"/>
              </a:rPr>
              <a:t>$1.32B</a:t>
            </a:r>
          </a:p>
          <a:p>
            <a:pPr algn="ctr">
              <a:lnSpc>
                <a:spcPct val="98000"/>
              </a:lnSpc>
              <a:spcBef>
                <a:spcPts val="0"/>
              </a:spcBef>
              <a:spcAft>
                <a:spcPts val="200"/>
              </a:spcAft>
            </a:pPr>
            <a:r>
              <a:rPr sz="1050" b="1" i="0">
                <a:solidFill>
                  <a:srgbClr val="1D5C9E"/>
                </a:solidFill>
                <a:latin typeface="Calibri"/>
              </a:rPr>
              <a:t>projected</a:t>
            </a:r>
          </a:p>
          <a:p>
            <a:pPr algn="ctr">
              <a:lnSpc>
                <a:spcPct val="98000"/>
              </a:lnSpc>
              <a:spcBef>
                <a:spcPts val="0"/>
              </a:spcBef>
              <a:spcAft>
                <a:spcPts val="200"/>
              </a:spcAft>
            </a:pPr>
            <a:r>
              <a:rPr sz="1150" b="0" i="0">
                <a:solidFill>
                  <a:srgbClr val="556372"/>
                </a:solidFill>
                <a:latin typeface="Calibri"/>
              </a:rPr>
              <a:t>20-year economic impact</a:t>
            </a:r>
          </a:p>
        </p:txBody>
      </p:sp>
      <p:sp>
        <p:nvSpPr>
          <p:cNvPr id="18" name="TextBox 17"/>
          <p:cNvSpPr txBox="1"/>
          <p:nvPr/>
        </p:nvSpPr>
        <p:spPr>
          <a:xfrm>
            <a:off x="502920" y="6455664"/>
            <a:ext cx="8686800" cy="320040"/>
          </a:xfrm>
          <a:prstGeom prst="rect">
            <a:avLst/>
          </a:prstGeom>
          <a:noFill/>
        </p:spPr>
        <p:txBody>
          <a:bodyPr wrap="square" anchor="ctr" lIns="0" rIns="0" tIns="0" bIns="0">
            <a:spAutoFit/>
          </a:bodyPr>
          <a:lstStyle/>
          <a:p>
            <a:pPr algn="l">
              <a:lnSpc>
                <a:spcPct val="100000"/>
              </a:lnSpc>
              <a:spcBef>
                <a:spcPts val="0"/>
              </a:spcBef>
              <a:spcAft>
                <a:spcPts val="400"/>
              </a:spcAft>
            </a:pPr>
            <a:r>
              <a:rPr sz="900" b="0" i="0">
                <a:solidFill>
                  <a:srgbClr val="556372"/>
                </a:solidFill>
                <a:latin typeface="Calibri"/>
              </a:rPr>
              <a:t>Source: MAP CPL Insights Dashboard · as of July 16, 2026</a:t>
            </a:r>
          </a:p>
        </p:txBody>
      </p:sp>
      <p:sp>
        <p:nvSpPr>
          <p:cNvPr id="19" name="TextBox 18"/>
          <p:cNvSpPr txBox="1"/>
          <p:nvPr/>
        </p:nvSpPr>
        <p:spPr>
          <a:xfrm>
            <a:off x="11292840" y="6455664"/>
            <a:ext cx="64008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0" i="0">
                <a:solidFill>
                  <a:srgbClr val="5563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02920"/>
            <a:ext cx="1106424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8A32C"/>
                </a:solidFill>
                <a:latin typeface="Calibri"/>
              </a:rPr>
              <a:t>A VISION 2030 PRIORITY</a:t>
            </a:r>
          </a:p>
        </p:txBody>
      </p:sp>
      <p:sp>
        <p:nvSpPr>
          <p:cNvPr id="5" name="TextBox 4"/>
          <p:cNvSpPr txBox="1"/>
          <p:nvPr/>
        </p:nvSpPr>
        <p:spPr>
          <a:xfrm>
            <a:off x="548640" y="868680"/>
            <a:ext cx="11064240" cy="914400"/>
          </a:xfrm>
          <a:prstGeom prst="rect">
            <a:avLst/>
          </a:prstGeom>
          <a:noFill/>
        </p:spPr>
        <p:txBody>
          <a:bodyPr wrap="square" anchor="t" lIns="0" rIns="0" tIns="0" bIns="0">
            <a:spAutoFit/>
          </a:bodyPr>
          <a:lstStyle/>
          <a:p>
            <a:pPr algn="l">
              <a:lnSpc>
                <a:spcPct val="100000"/>
              </a:lnSpc>
              <a:spcBef>
                <a:spcPts val="0"/>
              </a:spcBef>
              <a:spcAft>
                <a:spcPts val="400"/>
              </a:spcAft>
            </a:pPr>
            <a:r>
              <a:rPr sz="3200" b="1" i="0">
                <a:solidFill>
                  <a:srgbClr val="FFFFFF"/>
                </a:solidFill>
                <a:latin typeface="Cambria"/>
              </a:rPr>
              <a:t>2026–27 Budget: California Invests in CPL</a:t>
            </a:r>
          </a:p>
        </p:txBody>
      </p:sp>
      <p:sp>
        <p:nvSpPr>
          <p:cNvPr id="6" name="Rounded Rectangle 5"/>
          <p:cNvSpPr/>
          <p:nvPr/>
        </p:nvSpPr>
        <p:spPr>
          <a:xfrm>
            <a:off x="548640" y="2148840"/>
            <a:ext cx="5349240" cy="3246120"/>
          </a:xfrm>
          <a:prstGeom prst="roundRect">
            <a:avLst/>
          </a:prstGeom>
          <a:solidFill>
            <a:srgbClr val="183A63"/>
          </a:solidFill>
          <a:ln w="19050">
            <a:solidFill>
              <a:srgbClr val="2A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423160"/>
            <a:ext cx="4709160" cy="1097280"/>
          </a:xfrm>
          <a:prstGeom prst="rect">
            <a:avLst/>
          </a:prstGeom>
          <a:noFill/>
        </p:spPr>
        <p:txBody>
          <a:bodyPr wrap="square" anchor="t" lIns="0" rIns="0" tIns="0" bIns="0">
            <a:spAutoFit/>
          </a:bodyPr>
          <a:lstStyle/>
          <a:p>
            <a:pPr algn="l">
              <a:lnSpc>
                <a:spcPct val="100000"/>
              </a:lnSpc>
              <a:spcBef>
                <a:spcPts val="0"/>
              </a:spcBef>
              <a:spcAft>
                <a:spcPts val="400"/>
              </a:spcAft>
            </a:pPr>
            <a:r>
              <a:rPr sz="6000" b="1" i="0">
                <a:solidFill>
                  <a:srgbClr val="E8A32C"/>
                </a:solidFill>
                <a:latin typeface="Cambria"/>
              </a:rPr>
              <a:t>$7M</a:t>
            </a:r>
            <a:r>
              <a:rPr sz="2200" b="1" i="0">
                <a:solidFill>
                  <a:srgbClr val="CFDDEE"/>
                </a:solidFill>
                <a:latin typeface="Calibri"/>
              </a:rPr>
              <a:t>  ongoing</a:t>
            </a:r>
          </a:p>
        </p:txBody>
      </p:sp>
      <p:sp>
        <p:nvSpPr>
          <p:cNvPr id="8" name="TextBox 7"/>
          <p:cNvSpPr txBox="1"/>
          <p:nvPr/>
        </p:nvSpPr>
        <p:spPr>
          <a:xfrm>
            <a:off x="868680" y="3611880"/>
            <a:ext cx="4709160"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FFFFFF"/>
                </a:solidFill>
                <a:latin typeface="Calibri"/>
              </a:rPr>
              <a:t>Statewide infrastructure &amp; operations</a:t>
            </a:r>
          </a:p>
        </p:txBody>
      </p:sp>
      <p:sp>
        <p:nvSpPr>
          <p:cNvPr id="9" name="TextBox 8"/>
          <p:cNvSpPr txBox="1"/>
          <p:nvPr/>
        </p:nvSpPr>
        <p:spPr>
          <a:xfrm>
            <a:off x="868680" y="4114800"/>
            <a:ext cx="4709160" cy="1143000"/>
          </a:xfrm>
          <a:prstGeom prst="rect">
            <a:avLst/>
          </a:prstGeom>
          <a:noFill/>
        </p:spPr>
        <p:txBody>
          <a:bodyPr wrap="square" anchor="t" lIns="0" rIns="0" tIns="0" bIns="0">
            <a:spAutoFit/>
          </a:bodyPr>
          <a:lstStyle/>
          <a:p>
            <a:pPr algn="l">
              <a:lnSpc>
                <a:spcPct val="105000"/>
              </a:lnSpc>
              <a:spcBef>
                <a:spcPts val="0"/>
              </a:spcBef>
              <a:spcAft>
                <a:spcPts val="400"/>
              </a:spcAft>
            </a:pPr>
            <a:r>
              <a:rPr sz="1450" b="0" i="0">
                <a:solidFill>
                  <a:srgbClr val="CFDDEE"/>
                </a:solidFill>
                <a:latin typeface="Calibri"/>
              </a:rPr>
              <a:t>Sustains the MAP platform, the statewide credit-recommendation library, and the staffing that keeps CPL running for every college.</a:t>
            </a:r>
          </a:p>
        </p:txBody>
      </p:sp>
      <p:sp>
        <p:nvSpPr>
          <p:cNvPr id="10" name="Rounded Rectangle 9"/>
          <p:cNvSpPr/>
          <p:nvPr/>
        </p:nvSpPr>
        <p:spPr>
          <a:xfrm>
            <a:off x="6309360" y="2148840"/>
            <a:ext cx="5349240" cy="3246120"/>
          </a:xfrm>
          <a:prstGeom prst="roundRect">
            <a:avLst/>
          </a:prstGeom>
          <a:solidFill>
            <a:srgbClr val="183A63"/>
          </a:solidFill>
          <a:ln w="19050">
            <a:solidFill>
              <a:srgbClr val="2A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423160"/>
            <a:ext cx="4709160" cy="1097280"/>
          </a:xfrm>
          <a:prstGeom prst="rect">
            <a:avLst/>
          </a:prstGeom>
          <a:noFill/>
        </p:spPr>
        <p:txBody>
          <a:bodyPr wrap="square" anchor="t" lIns="0" rIns="0" tIns="0" bIns="0">
            <a:spAutoFit/>
          </a:bodyPr>
          <a:lstStyle/>
          <a:p>
            <a:pPr algn="l">
              <a:lnSpc>
                <a:spcPct val="100000"/>
              </a:lnSpc>
              <a:spcBef>
                <a:spcPts val="0"/>
              </a:spcBef>
              <a:spcAft>
                <a:spcPts val="400"/>
              </a:spcAft>
            </a:pPr>
            <a:r>
              <a:rPr sz="6000" b="1" i="0">
                <a:solidFill>
                  <a:srgbClr val="E8A32C"/>
                </a:solidFill>
                <a:latin typeface="Cambria"/>
              </a:rPr>
              <a:t>$35M</a:t>
            </a:r>
            <a:r>
              <a:rPr sz="2200" b="1" i="0">
                <a:solidFill>
                  <a:srgbClr val="CFDDEE"/>
                </a:solidFill>
                <a:latin typeface="Calibri"/>
              </a:rPr>
              <a:t>  one-time</a:t>
            </a:r>
          </a:p>
        </p:txBody>
      </p:sp>
      <p:sp>
        <p:nvSpPr>
          <p:cNvPr id="12" name="TextBox 11"/>
          <p:cNvSpPr txBox="1"/>
          <p:nvPr/>
        </p:nvSpPr>
        <p:spPr>
          <a:xfrm>
            <a:off x="6629400" y="3611880"/>
            <a:ext cx="4709160" cy="45720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FFFFFF"/>
                </a:solidFill>
                <a:latin typeface="Calibri"/>
              </a:rPr>
              <a:t>Local CPL implementation</a:t>
            </a:r>
          </a:p>
        </p:txBody>
      </p:sp>
      <p:sp>
        <p:nvSpPr>
          <p:cNvPr id="13" name="TextBox 12"/>
          <p:cNvSpPr txBox="1"/>
          <p:nvPr/>
        </p:nvSpPr>
        <p:spPr>
          <a:xfrm>
            <a:off x="6629400" y="4114800"/>
            <a:ext cx="4709160" cy="1143000"/>
          </a:xfrm>
          <a:prstGeom prst="rect">
            <a:avLst/>
          </a:prstGeom>
          <a:noFill/>
        </p:spPr>
        <p:txBody>
          <a:bodyPr wrap="square" anchor="t" lIns="0" rIns="0" tIns="0" bIns="0">
            <a:spAutoFit/>
          </a:bodyPr>
          <a:lstStyle/>
          <a:p>
            <a:pPr algn="l">
              <a:lnSpc>
                <a:spcPct val="105000"/>
              </a:lnSpc>
              <a:spcBef>
                <a:spcPts val="0"/>
              </a:spcBef>
              <a:spcAft>
                <a:spcPts val="400"/>
              </a:spcAft>
            </a:pPr>
            <a:r>
              <a:rPr sz="1450" b="0" i="0">
                <a:solidFill>
                  <a:srgbClr val="CFDDEE"/>
                </a:solidFill>
                <a:latin typeface="Calibri"/>
              </a:rPr>
              <a:t>Flows to colleges to build local CPL capacity — allocated by student outcomes, using the COBI Implementation Funding model.</a:t>
            </a:r>
          </a:p>
        </p:txBody>
      </p:sp>
      <p:sp>
        <p:nvSpPr>
          <p:cNvPr id="14" name="TextBox 13"/>
          <p:cNvSpPr txBox="1"/>
          <p:nvPr/>
        </p:nvSpPr>
        <p:spPr>
          <a:xfrm>
            <a:off x="548640" y="5806440"/>
            <a:ext cx="11064240" cy="640080"/>
          </a:xfrm>
          <a:prstGeom prst="rect">
            <a:avLst/>
          </a:prstGeom>
          <a:noFill/>
        </p:spPr>
        <p:txBody>
          <a:bodyPr wrap="square" anchor="t" lIns="0" rIns="0" tIns="0" bIns="0">
            <a:spAutoFit/>
          </a:bodyPr>
          <a:lstStyle/>
          <a:p>
            <a:pPr algn="ctr">
              <a:lnSpc>
                <a:spcPct val="100000"/>
              </a:lnSpc>
              <a:spcBef>
                <a:spcPts val="0"/>
              </a:spcBef>
              <a:spcAft>
                <a:spcPts val="400"/>
              </a:spcAft>
            </a:pPr>
            <a:r>
              <a:rPr sz="1400" b="0" i="1">
                <a:solidFill>
                  <a:srgbClr val="B9CBE0"/>
                </a:solidFill>
                <a:latin typeface="Calibri"/>
              </a:rPr>
              <a:t>Direct state support for a statewide system that turns work, service, and life experience into college credit — advancing Vision 2030 completion and equity goals.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D5C9E"/>
                </a:solidFill>
                <a:latin typeface="Calibri"/>
              </a:rPr>
              <a:t>COBI IMPLEMENTATION FUNDING MODEL</a:t>
            </a:r>
          </a:p>
        </p:txBody>
      </p:sp>
      <p:sp>
        <p:nvSpPr>
          <p:cNvPr id="4" name="TextBox 3"/>
          <p:cNvSpPr txBox="1"/>
          <p:nvPr/>
        </p:nvSpPr>
        <p:spPr>
          <a:xfrm>
            <a:off x="548640" y="841247"/>
            <a:ext cx="11064240" cy="914400"/>
          </a:xfrm>
          <a:prstGeom prst="rect">
            <a:avLst/>
          </a:prstGeom>
          <a:noFill/>
        </p:spPr>
        <p:txBody>
          <a:bodyPr wrap="square" anchor="t" lIns="0" rIns="0" tIns="0" bIns="0">
            <a:spAutoFit/>
          </a:bodyPr>
          <a:lstStyle/>
          <a:p>
            <a:pPr algn="l">
              <a:lnSpc>
                <a:spcPct val="98000"/>
              </a:lnSpc>
              <a:spcBef>
                <a:spcPts val="0"/>
              </a:spcBef>
              <a:spcAft>
                <a:spcPts val="0"/>
              </a:spcAft>
            </a:pPr>
            <a:r>
              <a:rPr sz="3000" b="1" i="0">
                <a:solidFill>
                  <a:srgbClr val="153763"/>
                </a:solidFill>
                <a:latin typeface="Cambria"/>
              </a:rPr>
              <a:t>Three Priorities Drive Every Dollar</a:t>
            </a:r>
          </a:p>
        </p:txBody>
      </p:sp>
      <p:sp>
        <p:nvSpPr>
          <p:cNvPr id="5" name="Rectangle 4"/>
          <p:cNvSpPr/>
          <p:nvPr/>
        </p:nvSpPr>
        <p:spPr>
          <a:xfrm>
            <a:off x="566928" y="1426464"/>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47088"/>
            <a:ext cx="11064240" cy="457200"/>
          </a:xfrm>
          <a:prstGeom prst="rect">
            <a:avLst/>
          </a:prstGeom>
          <a:noFill/>
        </p:spPr>
        <p:txBody>
          <a:bodyPr wrap="square" anchor="t" lIns="0" rIns="0" tIns="0" bIns="0">
            <a:spAutoFit/>
          </a:bodyPr>
          <a:lstStyle/>
          <a:p>
            <a:pPr algn="l">
              <a:lnSpc>
                <a:spcPct val="100000"/>
              </a:lnSpc>
              <a:spcBef>
                <a:spcPts val="0"/>
              </a:spcBef>
              <a:spcAft>
                <a:spcPts val="400"/>
              </a:spcAft>
            </a:pPr>
            <a:r>
              <a:rPr sz="1450" b="0" i="1">
                <a:solidFill>
                  <a:srgbClr val="556372"/>
                </a:solidFill>
                <a:latin typeface="Calibri"/>
              </a:rPr>
              <a:t>Each college earns its share of the $35M on measured outcomes across three priorities — modeled transparently in COBI.</a:t>
            </a:r>
          </a:p>
        </p:txBody>
      </p:sp>
      <p:sp>
        <p:nvSpPr>
          <p:cNvPr id="7" name="Rounded Rectangle 6"/>
          <p:cNvSpPr/>
          <p:nvPr/>
        </p:nvSpPr>
        <p:spPr>
          <a:xfrm>
            <a:off x="548640" y="2395728"/>
            <a:ext cx="3639312" cy="260604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395728"/>
            <a:ext cx="3639312" cy="50292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651760"/>
            <a:ext cx="3639312" cy="246888"/>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95728"/>
            <a:ext cx="3273552" cy="50292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FFFFFF"/>
                </a:solidFill>
                <a:latin typeface="Calibri"/>
              </a:rPr>
              <a:t>PRIORITY 1</a:t>
            </a:r>
          </a:p>
        </p:txBody>
      </p:sp>
      <p:sp>
        <p:nvSpPr>
          <p:cNvPr id="11" name="TextBox 10"/>
          <p:cNvSpPr txBox="1"/>
          <p:nvPr/>
        </p:nvSpPr>
        <p:spPr>
          <a:xfrm>
            <a:off x="777240" y="3054096"/>
            <a:ext cx="3182112" cy="777240"/>
          </a:xfrm>
          <a:prstGeom prst="rect">
            <a:avLst/>
          </a:prstGeom>
          <a:noFill/>
        </p:spPr>
        <p:txBody>
          <a:bodyPr wrap="square" anchor="t" lIns="0" rIns="0" tIns="0" bIns="0">
            <a:spAutoFit/>
          </a:bodyPr>
          <a:lstStyle/>
          <a:p>
            <a:pPr algn="l">
              <a:lnSpc>
                <a:spcPct val="100000"/>
              </a:lnSpc>
              <a:spcBef>
                <a:spcPts val="0"/>
              </a:spcBef>
              <a:spcAft>
                <a:spcPts val="400"/>
              </a:spcAft>
            </a:pPr>
            <a:r>
              <a:rPr sz="4400" b="1" i="0">
                <a:solidFill>
                  <a:srgbClr val="153763"/>
                </a:solidFill>
                <a:latin typeface="Cambria"/>
              </a:rPr>
              <a:t>30%</a:t>
            </a:r>
            <a:r>
              <a:rPr sz="1150" b="0" i="0">
                <a:solidFill>
                  <a:srgbClr val="556372"/>
                </a:solidFill>
                <a:latin typeface="Calibri"/>
              </a:rPr>
              <a:t>  of the pool</a:t>
            </a:r>
          </a:p>
        </p:txBody>
      </p:sp>
      <p:sp>
        <p:nvSpPr>
          <p:cNvPr id="12" name="TextBox 11"/>
          <p:cNvSpPr txBox="1"/>
          <p:nvPr/>
        </p:nvSpPr>
        <p:spPr>
          <a:xfrm>
            <a:off x="777240" y="3877056"/>
            <a:ext cx="3182112" cy="36576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1D5C9E"/>
                </a:solidFill>
                <a:latin typeface="Calibri"/>
              </a:rPr>
              <a:t>Completion</a:t>
            </a:r>
          </a:p>
        </p:txBody>
      </p:sp>
      <p:sp>
        <p:nvSpPr>
          <p:cNvPr id="13" name="TextBox 12"/>
          <p:cNvSpPr txBox="1"/>
          <p:nvPr/>
        </p:nvSpPr>
        <p:spPr>
          <a:xfrm>
            <a:off x="777240" y="4270248"/>
            <a:ext cx="3182112" cy="658368"/>
          </a:xfrm>
          <a:prstGeom prst="rect">
            <a:avLst/>
          </a:prstGeom>
          <a:noFill/>
        </p:spPr>
        <p:txBody>
          <a:bodyPr wrap="square" anchor="t" lIns="0" rIns="0" tIns="0" bIns="0">
            <a:spAutoFit/>
          </a:bodyPr>
          <a:lstStyle/>
          <a:p>
            <a:pPr algn="l">
              <a:lnSpc>
                <a:spcPct val="106000"/>
              </a:lnSpc>
              <a:spcBef>
                <a:spcPts val="0"/>
              </a:spcBef>
              <a:spcAft>
                <a:spcPts val="400"/>
              </a:spcAft>
            </a:pPr>
            <a:r>
              <a:rPr sz="1250" b="0" i="0">
                <a:solidFill>
                  <a:srgbClr val="222A33"/>
                </a:solidFill>
                <a:latin typeface="Calibri"/>
              </a:rPr>
              <a:t>Increase CCC certificate &amp; degree completion through CPL awards.</a:t>
            </a:r>
          </a:p>
        </p:txBody>
      </p:sp>
      <p:sp>
        <p:nvSpPr>
          <p:cNvPr id="14" name="Rounded Rectangle 13"/>
          <p:cNvSpPr/>
          <p:nvPr/>
        </p:nvSpPr>
        <p:spPr>
          <a:xfrm>
            <a:off x="4361688" y="2395728"/>
            <a:ext cx="3639312" cy="260604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61688" y="2395728"/>
            <a:ext cx="3639312" cy="50292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2651760"/>
            <a:ext cx="3639312" cy="246888"/>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0288" y="2395728"/>
            <a:ext cx="3273552" cy="50292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FFFFFF"/>
                </a:solidFill>
                <a:latin typeface="Calibri"/>
              </a:rPr>
              <a:t>PRIORITY 2</a:t>
            </a:r>
          </a:p>
        </p:txBody>
      </p:sp>
      <p:sp>
        <p:nvSpPr>
          <p:cNvPr id="18" name="TextBox 17"/>
          <p:cNvSpPr txBox="1"/>
          <p:nvPr/>
        </p:nvSpPr>
        <p:spPr>
          <a:xfrm>
            <a:off x="4590288" y="3054096"/>
            <a:ext cx="3182112" cy="777240"/>
          </a:xfrm>
          <a:prstGeom prst="rect">
            <a:avLst/>
          </a:prstGeom>
          <a:noFill/>
        </p:spPr>
        <p:txBody>
          <a:bodyPr wrap="square" anchor="t" lIns="0" rIns="0" tIns="0" bIns="0">
            <a:spAutoFit/>
          </a:bodyPr>
          <a:lstStyle/>
          <a:p>
            <a:pPr algn="l">
              <a:lnSpc>
                <a:spcPct val="100000"/>
              </a:lnSpc>
              <a:spcBef>
                <a:spcPts val="0"/>
              </a:spcBef>
              <a:spcAft>
                <a:spcPts val="400"/>
              </a:spcAft>
            </a:pPr>
            <a:r>
              <a:rPr sz="4400" b="1" i="0">
                <a:solidFill>
                  <a:srgbClr val="153763"/>
                </a:solidFill>
                <a:latin typeface="Cambria"/>
              </a:rPr>
              <a:t>42%</a:t>
            </a:r>
            <a:r>
              <a:rPr sz="1150" b="0" i="0">
                <a:solidFill>
                  <a:srgbClr val="556372"/>
                </a:solidFill>
                <a:latin typeface="Calibri"/>
              </a:rPr>
              <a:t>  of the pool</a:t>
            </a:r>
          </a:p>
        </p:txBody>
      </p:sp>
      <p:sp>
        <p:nvSpPr>
          <p:cNvPr id="19" name="TextBox 18"/>
          <p:cNvSpPr txBox="1"/>
          <p:nvPr/>
        </p:nvSpPr>
        <p:spPr>
          <a:xfrm>
            <a:off x="4590288" y="3877056"/>
            <a:ext cx="3182112" cy="36576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1D5C9E"/>
                </a:solidFill>
                <a:latin typeface="Calibri"/>
              </a:rPr>
              <a:t>Access</a:t>
            </a:r>
          </a:p>
        </p:txBody>
      </p:sp>
      <p:sp>
        <p:nvSpPr>
          <p:cNvPr id="20" name="TextBox 19"/>
          <p:cNvSpPr txBox="1"/>
          <p:nvPr/>
        </p:nvSpPr>
        <p:spPr>
          <a:xfrm>
            <a:off x="4590288" y="4270248"/>
            <a:ext cx="3182112" cy="658368"/>
          </a:xfrm>
          <a:prstGeom prst="rect">
            <a:avLst/>
          </a:prstGeom>
          <a:noFill/>
        </p:spPr>
        <p:txBody>
          <a:bodyPr wrap="square" anchor="t" lIns="0" rIns="0" tIns="0" bIns="0">
            <a:spAutoFit/>
          </a:bodyPr>
          <a:lstStyle/>
          <a:p>
            <a:pPr algn="l">
              <a:lnSpc>
                <a:spcPct val="106000"/>
              </a:lnSpc>
              <a:spcBef>
                <a:spcPts val="0"/>
              </a:spcBef>
              <a:spcAft>
                <a:spcPts val="400"/>
              </a:spcAft>
            </a:pPr>
            <a:r>
              <a:rPr sz="1250" b="0" i="0">
                <a:solidFill>
                  <a:srgbClr val="222A33"/>
                </a:solidFill>
                <a:latin typeface="Calibri"/>
              </a:rPr>
              <a:t>Increase college access through CPL — reaching more students.</a:t>
            </a:r>
          </a:p>
        </p:txBody>
      </p:sp>
      <p:sp>
        <p:nvSpPr>
          <p:cNvPr id="21" name="Rounded Rectangle 20"/>
          <p:cNvSpPr/>
          <p:nvPr/>
        </p:nvSpPr>
        <p:spPr>
          <a:xfrm>
            <a:off x="8174736" y="2395728"/>
            <a:ext cx="3639312" cy="260604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74736" y="2395728"/>
            <a:ext cx="3639312" cy="50292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74736" y="2651760"/>
            <a:ext cx="3639312" cy="246888"/>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2395728"/>
            <a:ext cx="3273552" cy="50292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FFFFFF"/>
                </a:solidFill>
                <a:latin typeface="Calibri"/>
              </a:rPr>
              <a:t>PRIORITY 3</a:t>
            </a:r>
          </a:p>
        </p:txBody>
      </p:sp>
      <p:sp>
        <p:nvSpPr>
          <p:cNvPr id="25" name="TextBox 24"/>
          <p:cNvSpPr txBox="1"/>
          <p:nvPr/>
        </p:nvSpPr>
        <p:spPr>
          <a:xfrm>
            <a:off x="8403336" y="3054096"/>
            <a:ext cx="3182112" cy="777240"/>
          </a:xfrm>
          <a:prstGeom prst="rect">
            <a:avLst/>
          </a:prstGeom>
          <a:noFill/>
        </p:spPr>
        <p:txBody>
          <a:bodyPr wrap="square" anchor="t" lIns="0" rIns="0" tIns="0" bIns="0">
            <a:spAutoFit/>
          </a:bodyPr>
          <a:lstStyle/>
          <a:p>
            <a:pPr algn="l">
              <a:lnSpc>
                <a:spcPct val="100000"/>
              </a:lnSpc>
              <a:spcBef>
                <a:spcPts val="0"/>
              </a:spcBef>
              <a:spcAft>
                <a:spcPts val="400"/>
              </a:spcAft>
            </a:pPr>
            <a:r>
              <a:rPr sz="4400" b="1" i="0">
                <a:solidFill>
                  <a:srgbClr val="153763"/>
                </a:solidFill>
                <a:latin typeface="Cambria"/>
              </a:rPr>
              <a:t>28%</a:t>
            </a:r>
            <a:r>
              <a:rPr sz="1150" b="0" i="0">
                <a:solidFill>
                  <a:srgbClr val="556372"/>
                </a:solidFill>
                <a:latin typeface="Calibri"/>
              </a:rPr>
              <a:t>  of the pool</a:t>
            </a:r>
          </a:p>
        </p:txBody>
      </p:sp>
      <p:sp>
        <p:nvSpPr>
          <p:cNvPr id="26" name="TextBox 25"/>
          <p:cNvSpPr txBox="1"/>
          <p:nvPr/>
        </p:nvSpPr>
        <p:spPr>
          <a:xfrm>
            <a:off x="8403336" y="3877056"/>
            <a:ext cx="3182112" cy="365760"/>
          </a:xfrm>
          <a:prstGeom prst="rect">
            <a:avLst/>
          </a:prstGeom>
          <a:noFill/>
        </p:spPr>
        <p:txBody>
          <a:bodyPr wrap="square" anchor="t" lIns="0" rIns="0" tIns="0" bIns="0">
            <a:spAutoFit/>
          </a:bodyPr>
          <a:lstStyle/>
          <a:p>
            <a:pPr algn="l">
              <a:lnSpc>
                <a:spcPct val="100000"/>
              </a:lnSpc>
              <a:spcBef>
                <a:spcPts val="0"/>
              </a:spcBef>
              <a:spcAft>
                <a:spcPts val="400"/>
              </a:spcAft>
            </a:pPr>
            <a:r>
              <a:rPr sz="1800" b="1" i="0">
                <a:solidFill>
                  <a:srgbClr val="1D5C9E"/>
                </a:solidFill>
                <a:latin typeface="Calibri"/>
              </a:rPr>
              <a:t>Capacity &amp; Mobility</a:t>
            </a:r>
          </a:p>
        </p:txBody>
      </p:sp>
      <p:sp>
        <p:nvSpPr>
          <p:cNvPr id="27" name="TextBox 26"/>
          <p:cNvSpPr txBox="1"/>
          <p:nvPr/>
        </p:nvSpPr>
        <p:spPr>
          <a:xfrm>
            <a:off x="8403336" y="4270248"/>
            <a:ext cx="3182112" cy="658368"/>
          </a:xfrm>
          <a:prstGeom prst="rect">
            <a:avLst/>
          </a:prstGeom>
          <a:noFill/>
        </p:spPr>
        <p:txBody>
          <a:bodyPr wrap="square" anchor="t" lIns="0" rIns="0" tIns="0" bIns="0">
            <a:spAutoFit/>
          </a:bodyPr>
          <a:lstStyle/>
          <a:p>
            <a:pPr algn="l">
              <a:lnSpc>
                <a:spcPct val="106000"/>
              </a:lnSpc>
              <a:spcBef>
                <a:spcPts val="0"/>
              </a:spcBef>
              <a:spcAft>
                <a:spcPts val="400"/>
              </a:spcAft>
            </a:pPr>
            <a:r>
              <a:rPr sz="1250" b="0" i="0">
                <a:solidFill>
                  <a:srgbClr val="222A33"/>
                </a:solidFill>
                <a:latin typeface="Calibri"/>
              </a:rPr>
              <a:t>Increase CPL capacity, visibility, documentability, interoperability &amp; mobility.</a:t>
            </a:r>
          </a:p>
        </p:txBody>
      </p:sp>
      <p:sp>
        <p:nvSpPr>
          <p:cNvPr id="28" name="Rounded Rectangle 27"/>
          <p:cNvSpPr/>
          <p:nvPr/>
        </p:nvSpPr>
        <p:spPr>
          <a:xfrm>
            <a:off x="548640" y="5230368"/>
            <a:ext cx="11091672" cy="658368"/>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230368"/>
            <a:ext cx="10561320" cy="65836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E8A32C"/>
                </a:solidFill>
                <a:latin typeface="Calibri"/>
              </a:rPr>
              <a:t>Equity guardrails:  </a:t>
            </a:r>
            <a:r>
              <a:rPr sz="1350" b="0" i="0">
                <a:solidFill>
                  <a:srgbClr val="FFFFFF"/>
                </a:solidFill>
                <a:latin typeface="Calibri"/>
              </a:rPr>
              <a:t>$150K minimum per college  ·  rural carve-out  ·  noncredit-feeder support  —  outcomes-based never means winner-take-all.</a:t>
            </a:r>
          </a:p>
        </p:txBody>
      </p:sp>
      <p:sp>
        <p:nvSpPr>
          <p:cNvPr id="30" name="TextBox 29"/>
          <p:cNvSpPr txBox="1"/>
          <p:nvPr/>
        </p:nvSpPr>
        <p:spPr>
          <a:xfrm>
            <a:off x="502920" y="6455664"/>
            <a:ext cx="8686800" cy="320040"/>
          </a:xfrm>
          <a:prstGeom prst="rect">
            <a:avLst/>
          </a:prstGeom>
          <a:noFill/>
        </p:spPr>
        <p:txBody>
          <a:bodyPr wrap="square" anchor="ctr" lIns="0" rIns="0" tIns="0" bIns="0">
            <a:spAutoFit/>
          </a:bodyPr>
          <a:lstStyle/>
          <a:p>
            <a:pPr algn="l">
              <a:lnSpc>
                <a:spcPct val="100000"/>
              </a:lnSpc>
              <a:spcBef>
                <a:spcPts val="0"/>
              </a:spcBef>
              <a:spcAft>
                <a:spcPts val="400"/>
              </a:spcAft>
            </a:pPr>
            <a:r>
              <a:rPr sz="900" b="0" i="0">
                <a:solidFill>
                  <a:srgbClr val="556372"/>
                </a:solidFill>
                <a:latin typeface="Calibri"/>
              </a:rPr>
              <a:t>COBI → Implementation Funding tab · Chancellor-editable policy · every dollar computed live</a:t>
            </a:r>
          </a:p>
        </p:txBody>
      </p:sp>
      <p:sp>
        <p:nvSpPr>
          <p:cNvPr id="31" name="TextBox 30"/>
          <p:cNvSpPr txBox="1"/>
          <p:nvPr/>
        </p:nvSpPr>
        <p:spPr>
          <a:xfrm>
            <a:off x="11292840" y="6455664"/>
            <a:ext cx="64008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0" i="0">
                <a:solidFill>
                  <a:srgbClr val="5563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8A32C"/>
                </a:solidFill>
                <a:latin typeface="Calibri"/>
              </a:rPr>
              <a:t>NEW · SOFT-LAUNCHED 2026</a:t>
            </a:r>
          </a:p>
        </p:txBody>
      </p:sp>
      <p:sp>
        <p:nvSpPr>
          <p:cNvPr id="4" name="TextBox 3"/>
          <p:cNvSpPr txBox="1"/>
          <p:nvPr/>
        </p:nvSpPr>
        <p:spPr>
          <a:xfrm>
            <a:off x="548640" y="749808"/>
            <a:ext cx="11064240" cy="54864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153763"/>
                </a:solidFill>
                <a:latin typeface="Cambria"/>
              </a:rPr>
              <a:t>One Front Door for Every Californian</a:t>
            </a:r>
          </a:p>
        </p:txBody>
      </p:sp>
      <p:sp>
        <p:nvSpPr>
          <p:cNvPr id="5" name="Rectangle 4"/>
          <p:cNvSpPr/>
          <p:nvPr/>
        </p:nvSpPr>
        <p:spPr>
          <a:xfrm>
            <a:off x="566928" y="1371600"/>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1091672" cy="3977639"/>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11091672" cy="64008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83080"/>
            <a:ext cx="5486400" cy="640080"/>
          </a:xfrm>
          <a:prstGeom prst="rect">
            <a:avLst/>
          </a:prstGeom>
          <a:noFill/>
        </p:spPr>
        <p:txBody>
          <a:bodyPr wrap="square" anchor="ctr" lIns="0" rIns="0" tIns="0" bIns="0">
            <a:spAutoFit/>
          </a:bodyPr>
          <a:lstStyle/>
          <a:p>
            <a:pPr algn="l">
              <a:lnSpc>
                <a:spcPct val="100000"/>
              </a:lnSpc>
              <a:spcBef>
                <a:spcPts val="0"/>
              </a:spcBef>
              <a:spcAft>
                <a:spcPts val="400"/>
              </a:spcAft>
            </a:pPr>
            <a:r>
              <a:rPr sz="1600" b="1" i="0">
                <a:solidFill>
                  <a:srgbClr val="FFFFFF"/>
                </a:solidFill>
                <a:latin typeface="Calibri"/>
              </a:rPr>
              <a:t>CPL Student Portal</a:t>
            </a:r>
          </a:p>
        </p:txBody>
      </p:sp>
      <p:sp>
        <p:nvSpPr>
          <p:cNvPr id="9" name="Rounded Rectangle 8"/>
          <p:cNvSpPr/>
          <p:nvPr/>
        </p:nvSpPr>
        <p:spPr>
          <a:xfrm>
            <a:off x="9765792" y="1929384"/>
            <a:ext cx="1600200" cy="365760"/>
          </a:xfrm>
          <a:prstGeom prst="roundRect">
            <a:avLst/>
          </a:prstGeom>
          <a:solidFill>
            <a:srgbClr val="FFFFFF"/>
          </a:solidFill>
          <a:ln w="19050">
            <a:solidFill>
              <a:srgbClr val="E8A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65792" y="1929384"/>
            <a:ext cx="1600200" cy="365760"/>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1D5C9E"/>
                </a:solidFill>
                <a:latin typeface="Calibri"/>
              </a:rPr>
              <a:t>Get Started</a:t>
            </a:r>
          </a:p>
        </p:txBody>
      </p:sp>
      <p:sp>
        <p:nvSpPr>
          <p:cNvPr id="11" name="TextBox 10"/>
          <p:cNvSpPr txBox="1"/>
          <p:nvPr/>
        </p:nvSpPr>
        <p:spPr>
          <a:xfrm>
            <a:off x="1051560" y="2926080"/>
            <a:ext cx="6583680" cy="914400"/>
          </a:xfrm>
          <a:prstGeom prst="rect">
            <a:avLst/>
          </a:prstGeom>
          <a:noFill/>
        </p:spPr>
        <p:txBody>
          <a:bodyPr wrap="square" anchor="t" lIns="0" rIns="0" tIns="0" bIns="0">
            <a:spAutoFit/>
          </a:bodyPr>
          <a:lstStyle/>
          <a:p>
            <a:pPr algn="l">
              <a:lnSpc>
                <a:spcPct val="100000"/>
              </a:lnSpc>
              <a:spcBef>
                <a:spcPts val="0"/>
              </a:spcBef>
              <a:spcAft>
                <a:spcPts val="400"/>
              </a:spcAft>
            </a:pPr>
            <a:r>
              <a:rPr sz="3400" b="1" i="0">
                <a:solidFill>
                  <a:srgbClr val="222A33"/>
                </a:solidFill>
                <a:latin typeface="Cambria"/>
              </a:rPr>
              <a:t>Get Credit for Being </a:t>
            </a:r>
            <a:r>
              <a:rPr sz="3400" b="1" i="0">
                <a:solidFill>
                  <a:srgbClr val="1D5C9E"/>
                </a:solidFill>
                <a:latin typeface="Cambria"/>
              </a:rPr>
              <a:t>You!</a:t>
            </a:r>
          </a:p>
        </p:txBody>
      </p:sp>
      <p:sp>
        <p:nvSpPr>
          <p:cNvPr id="12" name="TextBox 11"/>
          <p:cNvSpPr txBox="1"/>
          <p:nvPr/>
        </p:nvSpPr>
        <p:spPr>
          <a:xfrm>
            <a:off x="1051560" y="3840480"/>
            <a:ext cx="6583680" cy="1097280"/>
          </a:xfrm>
          <a:prstGeom prst="rect">
            <a:avLst/>
          </a:prstGeom>
          <a:noFill/>
        </p:spPr>
        <p:txBody>
          <a:bodyPr wrap="square" anchor="t" lIns="0" rIns="0" tIns="0" bIns="0">
            <a:spAutoFit/>
          </a:bodyPr>
          <a:lstStyle/>
          <a:p>
            <a:pPr algn="l">
              <a:lnSpc>
                <a:spcPct val="112000"/>
              </a:lnSpc>
              <a:spcBef>
                <a:spcPts val="0"/>
              </a:spcBef>
              <a:spcAft>
                <a:spcPts val="400"/>
              </a:spcAft>
            </a:pPr>
            <a:r>
              <a:rPr sz="1500" b="0" i="0">
                <a:solidFill>
                  <a:srgbClr val="556372"/>
                </a:solidFill>
                <a:latin typeface="Calibri"/>
              </a:rPr>
              <a:t>Credit for Prior Learning helps Californians turn what they’ve already learned — on the job, in the military, or through life — into college credit at California Community Colleges.</a:t>
            </a:r>
          </a:p>
        </p:txBody>
      </p:sp>
      <p:sp>
        <p:nvSpPr>
          <p:cNvPr id="13" name="Rounded Rectangle 12"/>
          <p:cNvSpPr/>
          <p:nvPr/>
        </p:nvSpPr>
        <p:spPr>
          <a:xfrm>
            <a:off x="1051560" y="4983480"/>
            <a:ext cx="2377440" cy="50292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983480"/>
            <a:ext cx="2377440" cy="502920"/>
          </a:xfrm>
          <a:prstGeom prst="rect">
            <a:avLst/>
          </a:prstGeom>
          <a:noFill/>
        </p:spPr>
        <p:txBody>
          <a:bodyPr wrap="square" anchor="ctr" lIns="0" rIns="0" tIns="0" bIns="0">
            <a:spAutoFit/>
          </a:bodyPr>
          <a:lstStyle/>
          <a:p>
            <a:pPr algn="ctr">
              <a:lnSpc>
                <a:spcPct val="100000"/>
              </a:lnSpc>
              <a:spcBef>
                <a:spcPts val="0"/>
              </a:spcBef>
              <a:spcAft>
                <a:spcPts val="400"/>
              </a:spcAft>
            </a:pPr>
            <a:r>
              <a:rPr sz="1400" b="1" i="0">
                <a:solidFill>
                  <a:srgbClr val="FFFFFF"/>
                </a:solidFill>
                <a:latin typeface="Calibri"/>
              </a:rPr>
              <a:t>Create an Account  →</a:t>
            </a:r>
          </a:p>
        </p:txBody>
      </p:sp>
      <p:sp>
        <p:nvSpPr>
          <p:cNvPr id="15" name="Rounded Rectangle 14"/>
          <p:cNvSpPr/>
          <p:nvPr/>
        </p:nvSpPr>
        <p:spPr>
          <a:xfrm>
            <a:off x="8229600" y="2788920"/>
            <a:ext cx="3108960" cy="265176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2788920"/>
            <a:ext cx="2743200" cy="2651760"/>
          </a:xfrm>
          <a:prstGeom prst="rect">
            <a:avLst/>
          </a:prstGeom>
          <a:noFill/>
        </p:spPr>
        <p:txBody>
          <a:bodyPr wrap="square" anchor="ctr" lIns="0" rIns="0" tIns="0" bIns="0">
            <a:spAutoFit/>
          </a:bodyPr>
          <a:lstStyle/>
          <a:p>
            <a:pPr algn="ctr">
              <a:lnSpc>
                <a:spcPct val="105000"/>
              </a:lnSpc>
              <a:spcBef>
                <a:spcPts val="0"/>
              </a:spcBef>
              <a:spcAft>
                <a:spcPts val="800"/>
              </a:spcAft>
            </a:pPr>
            <a:r>
              <a:rPr sz="4600" b="0" i="0">
                <a:solidFill>
                  <a:srgbClr val="1D5C9E"/>
                </a:solidFill>
                <a:latin typeface="Calibri"/>
              </a:rPr>
              <a:t>🎓</a:t>
            </a:r>
          </a:p>
          <a:p>
            <a:pPr algn="ctr">
              <a:lnSpc>
                <a:spcPct val="105000"/>
              </a:lnSpc>
              <a:spcBef>
                <a:spcPts val="0"/>
              </a:spcBef>
              <a:spcAft>
                <a:spcPts val="800"/>
              </a:spcAft>
            </a:pPr>
            <a:r>
              <a:rPr sz="1600" b="1" i="0">
                <a:solidFill>
                  <a:srgbClr val="153763"/>
                </a:solidFill>
                <a:latin typeface="Calibri"/>
              </a:rPr>
              <a:t>Passive  →  Proactive</a:t>
            </a:r>
          </a:p>
          <a:p>
            <a:pPr algn="ctr">
              <a:lnSpc>
                <a:spcPct val="105000"/>
              </a:lnSpc>
              <a:spcBef>
                <a:spcPts val="0"/>
              </a:spcBef>
              <a:spcAft>
                <a:spcPts val="800"/>
              </a:spcAft>
            </a:pPr>
            <a:r>
              <a:rPr sz="1250" b="0" i="1">
                <a:solidFill>
                  <a:srgbClr val="556372"/>
                </a:solidFill>
                <a:latin typeface="Calibri"/>
              </a:rPr>
              <a:t>Students find CPL — CPL no longer waits to be found.</a:t>
            </a:r>
          </a:p>
        </p:txBody>
      </p:sp>
      <p:sp>
        <p:nvSpPr>
          <p:cNvPr id="17" name="TextBox 16"/>
          <p:cNvSpPr txBox="1"/>
          <p:nvPr/>
        </p:nvSpPr>
        <p:spPr>
          <a:xfrm>
            <a:off x="548640" y="5943600"/>
            <a:ext cx="110642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800" b="1" i="0">
                <a:solidFill>
                  <a:srgbClr val="1D5C9E"/>
                </a:solidFill>
                <a:latin typeface="Calibri"/>
              </a:rPr>
              <a:t>creditforbeingyou.org/main/student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6400800" cy="640080"/>
          </a:xfrm>
          <a:prstGeom prst="rect">
            <a:avLst/>
          </a:prstGeom>
          <a:noFill/>
        </p:spPr>
        <p:txBody>
          <a:bodyPr wrap="square" anchor="t" lIns="0" rIns="0" tIns="0" bIns="0">
            <a:spAutoFit/>
          </a:bodyPr>
          <a:lstStyle/>
          <a:p>
            <a:pPr algn="l">
              <a:lnSpc>
                <a:spcPct val="100000"/>
              </a:lnSpc>
              <a:spcBef>
                <a:spcPts val="0"/>
              </a:spcBef>
              <a:spcAft>
                <a:spcPts val="400"/>
              </a:spcAft>
            </a:pPr>
            <a:r>
              <a:rPr sz="3200" b="1" i="0">
                <a:solidFill>
                  <a:srgbClr val="153763"/>
                </a:solidFill>
                <a:latin typeface="Cambria"/>
              </a:rPr>
              <a:t>My CPL Story</a:t>
            </a:r>
          </a:p>
        </p:txBody>
      </p:sp>
      <p:sp>
        <p:nvSpPr>
          <p:cNvPr id="4" name="TextBox 3"/>
          <p:cNvSpPr txBox="1"/>
          <p:nvPr/>
        </p:nvSpPr>
        <p:spPr>
          <a:xfrm>
            <a:off x="6583680" y="566928"/>
            <a:ext cx="5074920" cy="457200"/>
          </a:xfrm>
          <a:prstGeom prst="rect">
            <a:avLst/>
          </a:prstGeom>
          <a:noFill/>
        </p:spPr>
        <p:txBody>
          <a:bodyPr wrap="square" anchor="ctr" lIns="0" rIns="0" tIns="0" bIns="0">
            <a:spAutoFit/>
          </a:bodyPr>
          <a:lstStyle/>
          <a:p>
            <a:pPr algn="r">
              <a:lnSpc>
                <a:spcPct val="100000"/>
              </a:lnSpc>
              <a:spcBef>
                <a:spcPts val="0"/>
              </a:spcBef>
              <a:spcAft>
                <a:spcPts val="400"/>
              </a:spcAft>
            </a:pPr>
            <a:r>
              <a:rPr sz="1600" b="1" i="0">
                <a:solidFill>
                  <a:srgbClr val="1D5C9E"/>
                </a:solidFill>
                <a:latin typeface="Calibri"/>
              </a:rPr>
              <a:t>map.rccd.edu/cplstories</a:t>
            </a:r>
          </a:p>
        </p:txBody>
      </p:sp>
      <p:sp>
        <p:nvSpPr>
          <p:cNvPr id="5" name="Rectangle 4"/>
          <p:cNvSpPr/>
          <p:nvPr/>
        </p:nvSpPr>
        <p:spPr>
          <a:xfrm>
            <a:off x="566928" y="1097280"/>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17320"/>
            <a:ext cx="2103120" cy="448056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1691640"/>
            <a:ext cx="1005840" cy="1005840"/>
          </a:xfrm>
          <a:prstGeom prst="ellipse">
            <a:avLst/>
          </a:prstGeom>
          <a:solidFill>
            <a:srgbClr val="EEF3F9"/>
          </a:solidFill>
          <a:ln w="15875">
            <a:solidFill>
              <a:srgbClr val="1D5C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691640"/>
            <a:ext cx="100584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1D5C9E"/>
                </a:solidFill>
                <a:latin typeface="Cambria"/>
              </a:rPr>
              <a:t>LC</a:t>
            </a:r>
          </a:p>
        </p:txBody>
      </p:sp>
      <p:sp>
        <p:nvSpPr>
          <p:cNvPr id="9" name="TextBox 8"/>
          <p:cNvSpPr txBox="1"/>
          <p:nvPr/>
        </p:nvSpPr>
        <p:spPr>
          <a:xfrm>
            <a:off x="640080" y="2788920"/>
            <a:ext cx="1920239"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153763"/>
                </a:solidFill>
                <a:latin typeface="Calibri"/>
              </a:rPr>
              <a:t>Luis C.</a:t>
            </a:r>
          </a:p>
        </p:txBody>
      </p:sp>
      <p:sp>
        <p:nvSpPr>
          <p:cNvPr id="10" name="Rounded Rectangle 9"/>
          <p:cNvSpPr/>
          <p:nvPr/>
        </p:nvSpPr>
        <p:spPr>
          <a:xfrm>
            <a:off x="731520" y="3172968"/>
            <a:ext cx="1737360" cy="384048"/>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72968"/>
            <a:ext cx="1737360" cy="384048"/>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26 credits</a:t>
            </a:r>
          </a:p>
        </p:txBody>
      </p:sp>
      <p:sp>
        <p:nvSpPr>
          <p:cNvPr id="12" name="TextBox 11"/>
          <p:cNvSpPr txBox="1"/>
          <p:nvPr/>
        </p:nvSpPr>
        <p:spPr>
          <a:xfrm>
            <a:off x="658368" y="3703320"/>
            <a:ext cx="1883663" cy="1280160"/>
          </a:xfrm>
          <a:prstGeom prst="rect">
            <a:avLst/>
          </a:prstGeom>
          <a:noFill/>
        </p:spPr>
        <p:txBody>
          <a:bodyPr wrap="square" anchor="t" lIns="0" rIns="0" tIns="0" bIns="0">
            <a:spAutoFit/>
          </a:bodyPr>
          <a:lstStyle/>
          <a:p>
            <a:pPr algn="ctr">
              <a:lnSpc>
                <a:spcPct val="102000"/>
              </a:lnSpc>
              <a:spcBef>
                <a:spcPts val="0"/>
              </a:spcBef>
              <a:spcAft>
                <a:spcPts val="600"/>
              </a:spcAft>
            </a:pPr>
            <a:r>
              <a:rPr sz="1100" b="1" i="0">
                <a:solidFill>
                  <a:srgbClr val="2E7D46"/>
                </a:solidFill>
                <a:latin typeface="Calibri"/>
              </a:rPr>
              <a:t>✓ Military / JST</a:t>
            </a:r>
          </a:p>
          <a:p>
            <a:pPr algn="ctr">
              <a:lnSpc>
                <a:spcPct val="102000"/>
              </a:lnSpc>
              <a:spcBef>
                <a:spcPts val="0"/>
              </a:spcBef>
              <a:spcAft>
                <a:spcPts val="600"/>
              </a:spcAft>
            </a:pPr>
            <a:r>
              <a:rPr sz="1200" b="0" i="0">
                <a:solidFill>
                  <a:srgbClr val="222A33"/>
                </a:solidFill>
                <a:latin typeface="Calibri"/>
              </a:rPr>
              <a:t>Marine Corps Veteran → College</a:t>
            </a:r>
          </a:p>
        </p:txBody>
      </p:sp>
      <p:sp>
        <p:nvSpPr>
          <p:cNvPr id="13" name="Rounded Rectangle 12"/>
          <p:cNvSpPr/>
          <p:nvPr/>
        </p:nvSpPr>
        <p:spPr>
          <a:xfrm>
            <a:off x="658368" y="5394960"/>
            <a:ext cx="1883663" cy="402336"/>
          </a:xfrm>
          <a:prstGeom prst="round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394960"/>
            <a:ext cx="1883663" cy="40233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556372"/>
                </a:solidFill>
                <a:latin typeface="Calibri"/>
              </a:rPr>
              <a:t>San Bernardino Valley</a:t>
            </a:r>
          </a:p>
        </p:txBody>
      </p:sp>
      <p:sp>
        <p:nvSpPr>
          <p:cNvPr id="15" name="Rounded Rectangle 14"/>
          <p:cNvSpPr/>
          <p:nvPr/>
        </p:nvSpPr>
        <p:spPr>
          <a:xfrm>
            <a:off x="2825496" y="1417320"/>
            <a:ext cx="2103120" cy="448056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74136" y="1691640"/>
            <a:ext cx="1005840" cy="1005840"/>
          </a:xfrm>
          <a:prstGeom prst="ellipse">
            <a:avLst/>
          </a:prstGeom>
          <a:solidFill>
            <a:srgbClr val="EEF3F9"/>
          </a:solidFill>
          <a:ln w="15875">
            <a:solidFill>
              <a:srgbClr val="1D5C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74136" y="1691640"/>
            <a:ext cx="100584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1D5C9E"/>
                </a:solidFill>
                <a:latin typeface="Cambria"/>
              </a:rPr>
              <a:t>NM</a:t>
            </a:r>
          </a:p>
        </p:txBody>
      </p:sp>
      <p:sp>
        <p:nvSpPr>
          <p:cNvPr id="18" name="TextBox 17"/>
          <p:cNvSpPr txBox="1"/>
          <p:nvPr/>
        </p:nvSpPr>
        <p:spPr>
          <a:xfrm>
            <a:off x="2916936" y="2788920"/>
            <a:ext cx="1920239"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153763"/>
                </a:solidFill>
                <a:latin typeface="Calibri"/>
              </a:rPr>
              <a:t>Nadine M.</a:t>
            </a:r>
          </a:p>
        </p:txBody>
      </p:sp>
      <p:sp>
        <p:nvSpPr>
          <p:cNvPr id="19" name="Rounded Rectangle 18"/>
          <p:cNvSpPr/>
          <p:nvPr/>
        </p:nvSpPr>
        <p:spPr>
          <a:xfrm>
            <a:off x="3008376" y="3172968"/>
            <a:ext cx="1737360" cy="384048"/>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08376" y="3172968"/>
            <a:ext cx="1737360" cy="384048"/>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33.5 credits</a:t>
            </a:r>
          </a:p>
        </p:txBody>
      </p:sp>
      <p:sp>
        <p:nvSpPr>
          <p:cNvPr id="21" name="TextBox 20"/>
          <p:cNvSpPr txBox="1"/>
          <p:nvPr/>
        </p:nvSpPr>
        <p:spPr>
          <a:xfrm>
            <a:off x="2935224" y="3703320"/>
            <a:ext cx="1883663" cy="1280160"/>
          </a:xfrm>
          <a:prstGeom prst="rect">
            <a:avLst/>
          </a:prstGeom>
          <a:noFill/>
        </p:spPr>
        <p:txBody>
          <a:bodyPr wrap="square" anchor="t" lIns="0" rIns="0" tIns="0" bIns="0">
            <a:spAutoFit/>
          </a:bodyPr>
          <a:lstStyle/>
          <a:p>
            <a:pPr algn="ctr">
              <a:lnSpc>
                <a:spcPct val="102000"/>
              </a:lnSpc>
              <a:spcBef>
                <a:spcPts val="0"/>
              </a:spcBef>
              <a:spcAft>
                <a:spcPts val="600"/>
              </a:spcAft>
            </a:pPr>
            <a:r>
              <a:rPr sz="1100" b="1" i="0">
                <a:solidFill>
                  <a:srgbClr val="2E7D46"/>
                </a:solidFill>
                <a:latin typeface="Calibri"/>
              </a:rPr>
              <a:t>✓ Industry Certifications</a:t>
            </a:r>
          </a:p>
          <a:p>
            <a:pPr algn="ctr">
              <a:lnSpc>
                <a:spcPct val="102000"/>
              </a:lnSpc>
              <a:spcBef>
                <a:spcPts val="0"/>
              </a:spcBef>
              <a:spcAft>
                <a:spcPts val="600"/>
              </a:spcAft>
            </a:pPr>
            <a:r>
              <a:rPr sz="1200" b="0" i="0">
                <a:solidFill>
                  <a:srgbClr val="222A33"/>
                </a:solidFill>
                <a:latin typeface="Calibri"/>
              </a:rPr>
              <a:t>Aviation Maintenance → A.S.</a:t>
            </a:r>
          </a:p>
        </p:txBody>
      </p:sp>
      <p:sp>
        <p:nvSpPr>
          <p:cNvPr id="22" name="Rounded Rectangle 21"/>
          <p:cNvSpPr/>
          <p:nvPr/>
        </p:nvSpPr>
        <p:spPr>
          <a:xfrm>
            <a:off x="2935224" y="5394960"/>
            <a:ext cx="1883663" cy="402336"/>
          </a:xfrm>
          <a:prstGeom prst="round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35224" y="5394960"/>
            <a:ext cx="1883663" cy="40233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556372"/>
                </a:solidFill>
                <a:latin typeface="Calibri"/>
              </a:rPr>
              <a:t>San Diego Miramar</a:t>
            </a:r>
          </a:p>
        </p:txBody>
      </p:sp>
      <p:sp>
        <p:nvSpPr>
          <p:cNvPr id="24" name="Rounded Rectangle 23"/>
          <p:cNvSpPr/>
          <p:nvPr/>
        </p:nvSpPr>
        <p:spPr>
          <a:xfrm>
            <a:off x="5102351" y="1417320"/>
            <a:ext cx="2103120" cy="448056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650991" y="1691640"/>
            <a:ext cx="1005840" cy="1005840"/>
          </a:xfrm>
          <a:prstGeom prst="ellipse">
            <a:avLst/>
          </a:prstGeom>
          <a:solidFill>
            <a:srgbClr val="EEF3F9"/>
          </a:solidFill>
          <a:ln w="15875">
            <a:solidFill>
              <a:srgbClr val="1D5C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50991" y="1691640"/>
            <a:ext cx="100584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1D5C9E"/>
                </a:solidFill>
                <a:latin typeface="Cambria"/>
              </a:rPr>
              <a:t>EO</a:t>
            </a:r>
          </a:p>
        </p:txBody>
      </p:sp>
      <p:sp>
        <p:nvSpPr>
          <p:cNvPr id="27" name="TextBox 26"/>
          <p:cNvSpPr txBox="1"/>
          <p:nvPr/>
        </p:nvSpPr>
        <p:spPr>
          <a:xfrm>
            <a:off x="5193791" y="2788920"/>
            <a:ext cx="1920239"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153763"/>
                </a:solidFill>
                <a:latin typeface="Calibri"/>
              </a:rPr>
              <a:t>Eric O.</a:t>
            </a:r>
          </a:p>
        </p:txBody>
      </p:sp>
      <p:sp>
        <p:nvSpPr>
          <p:cNvPr id="28" name="Rounded Rectangle 27"/>
          <p:cNvSpPr/>
          <p:nvPr/>
        </p:nvSpPr>
        <p:spPr>
          <a:xfrm>
            <a:off x="5285231" y="3172968"/>
            <a:ext cx="1737360" cy="384048"/>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85231" y="3172968"/>
            <a:ext cx="1737360" cy="384048"/>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27 credits</a:t>
            </a:r>
          </a:p>
        </p:txBody>
      </p:sp>
      <p:sp>
        <p:nvSpPr>
          <p:cNvPr id="30" name="TextBox 29"/>
          <p:cNvSpPr txBox="1"/>
          <p:nvPr/>
        </p:nvSpPr>
        <p:spPr>
          <a:xfrm>
            <a:off x="5212079" y="3703320"/>
            <a:ext cx="1883663" cy="1280160"/>
          </a:xfrm>
          <a:prstGeom prst="rect">
            <a:avLst/>
          </a:prstGeom>
          <a:noFill/>
        </p:spPr>
        <p:txBody>
          <a:bodyPr wrap="square" anchor="t" lIns="0" rIns="0" tIns="0" bIns="0">
            <a:spAutoFit/>
          </a:bodyPr>
          <a:lstStyle/>
          <a:p>
            <a:pPr algn="ctr">
              <a:lnSpc>
                <a:spcPct val="102000"/>
              </a:lnSpc>
              <a:spcBef>
                <a:spcPts val="0"/>
              </a:spcBef>
              <a:spcAft>
                <a:spcPts val="600"/>
              </a:spcAft>
            </a:pPr>
            <a:r>
              <a:rPr sz="1100" b="1" i="0">
                <a:solidFill>
                  <a:srgbClr val="2E7D46"/>
                </a:solidFill>
                <a:latin typeface="Calibri"/>
              </a:rPr>
              <a:t>✓ Portfolio + Industry Certs</a:t>
            </a:r>
          </a:p>
          <a:p>
            <a:pPr algn="ctr">
              <a:lnSpc>
                <a:spcPct val="102000"/>
              </a:lnSpc>
              <a:spcBef>
                <a:spcPts val="0"/>
              </a:spcBef>
              <a:spcAft>
                <a:spcPts val="600"/>
              </a:spcAft>
            </a:pPr>
            <a:r>
              <a:rPr sz="1200" b="0" i="0">
                <a:solidFill>
                  <a:srgbClr val="222A33"/>
                </a:solidFill>
                <a:latin typeface="Calibri"/>
              </a:rPr>
              <a:t>Auto Tech → B.S. (now faculty)</a:t>
            </a:r>
          </a:p>
        </p:txBody>
      </p:sp>
      <p:sp>
        <p:nvSpPr>
          <p:cNvPr id="31" name="Rounded Rectangle 30"/>
          <p:cNvSpPr/>
          <p:nvPr/>
        </p:nvSpPr>
        <p:spPr>
          <a:xfrm>
            <a:off x="5212079" y="5394960"/>
            <a:ext cx="1883663" cy="402336"/>
          </a:xfrm>
          <a:prstGeom prst="round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2079" y="5394960"/>
            <a:ext cx="1883663" cy="40233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556372"/>
                </a:solidFill>
                <a:latin typeface="Calibri"/>
              </a:rPr>
              <a:t>Rio Hondo</a:t>
            </a:r>
          </a:p>
        </p:txBody>
      </p:sp>
      <p:sp>
        <p:nvSpPr>
          <p:cNvPr id="33" name="Rounded Rectangle 32"/>
          <p:cNvSpPr/>
          <p:nvPr/>
        </p:nvSpPr>
        <p:spPr>
          <a:xfrm>
            <a:off x="7379207" y="1417320"/>
            <a:ext cx="2103120" cy="448056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927847" y="1691640"/>
            <a:ext cx="1005840" cy="1005840"/>
          </a:xfrm>
          <a:prstGeom prst="ellipse">
            <a:avLst/>
          </a:prstGeom>
          <a:solidFill>
            <a:srgbClr val="EEF3F9"/>
          </a:solidFill>
          <a:ln w="15875">
            <a:solidFill>
              <a:srgbClr val="1D5C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27847" y="1691640"/>
            <a:ext cx="100584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1D5C9E"/>
                </a:solidFill>
                <a:latin typeface="Cambria"/>
              </a:rPr>
              <a:t>S</a:t>
            </a:r>
          </a:p>
        </p:txBody>
      </p:sp>
      <p:sp>
        <p:nvSpPr>
          <p:cNvPr id="36" name="TextBox 35"/>
          <p:cNvSpPr txBox="1"/>
          <p:nvPr/>
        </p:nvSpPr>
        <p:spPr>
          <a:xfrm>
            <a:off x="7470647" y="2788920"/>
            <a:ext cx="1920239"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153763"/>
                </a:solidFill>
                <a:latin typeface="Calibri"/>
              </a:rPr>
              <a:t>Sierra</a:t>
            </a:r>
          </a:p>
        </p:txBody>
      </p:sp>
      <p:sp>
        <p:nvSpPr>
          <p:cNvPr id="37" name="Rounded Rectangle 36"/>
          <p:cNvSpPr/>
          <p:nvPr/>
        </p:nvSpPr>
        <p:spPr>
          <a:xfrm>
            <a:off x="7562088" y="3172968"/>
            <a:ext cx="1737360" cy="384048"/>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62088" y="3172968"/>
            <a:ext cx="1737360" cy="384048"/>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6 credits</a:t>
            </a:r>
          </a:p>
        </p:txBody>
      </p:sp>
      <p:sp>
        <p:nvSpPr>
          <p:cNvPr id="39" name="TextBox 38"/>
          <p:cNvSpPr txBox="1"/>
          <p:nvPr/>
        </p:nvSpPr>
        <p:spPr>
          <a:xfrm>
            <a:off x="7488935" y="3703320"/>
            <a:ext cx="1883663" cy="1280160"/>
          </a:xfrm>
          <a:prstGeom prst="rect">
            <a:avLst/>
          </a:prstGeom>
          <a:noFill/>
        </p:spPr>
        <p:txBody>
          <a:bodyPr wrap="square" anchor="t" lIns="0" rIns="0" tIns="0" bIns="0">
            <a:spAutoFit/>
          </a:bodyPr>
          <a:lstStyle/>
          <a:p>
            <a:pPr algn="ctr">
              <a:lnSpc>
                <a:spcPct val="102000"/>
              </a:lnSpc>
              <a:spcBef>
                <a:spcPts val="0"/>
              </a:spcBef>
              <a:spcAft>
                <a:spcPts val="600"/>
              </a:spcAft>
            </a:pPr>
            <a:r>
              <a:rPr sz="1100" b="1" i="0">
                <a:solidFill>
                  <a:srgbClr val="2E7D46"/>
                </a:solidFill>
                <a:latin typeface="Calibri"/>
              </a:rPr>
              <a:t>✓ Military / JST</a:t>
            </a:r>
          </a:p>
          <a:p>
            <a:pPr algn="ctr">
              <a:lnSpc>
                <a:spcPct val="102000"/>
              </a:lnSpc>
              <a:spcBef>
                <a:spcPts val="0"/>
              </a:spcBef>
              <a:spcAft>
                <a:spcPts val="600"/>
              </a:spcAft>
            </a:pPr>
            <a:r>
              <a:rPr sz="1200" b="0" i="0">
                <a:solidFill>
                  <a:srgbClr val="222A33"/>
                </a:solidFill>
                <a:latin typeface="Calibri"/>
              </a:rPr>
              <a:t>Marine Veteran → Kinesiology</a:t>
            </a:r>
          </a:p>
        </p:txBody>
      </p:sp>
      <p:sp>
        <p:nvSpPr>
          <p:cNvPr id="40" name="Rounded Rectangle 39"/>
          <p:cNvSpPr/>
          <p:nvPr/>
        </p:nvSpPr>
        <p:spPr>
          <a:xfrm>
            <a:off x="7488935" y="5394960"/>
            <a:ext cx="1883663" cy="402336"/>
          </a:xfrm>
          <a:prstGeom prst="round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88935" y="5394960"/>
            <a:ext cx="1883663" cy="40233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556372"/>
                </a:solidFill>
                <a:latin typeface="Calibri"/>
              </a:rPr>
              <a:t>Cabrillo</a:t>
            </a:r>
          </a:p>
        </p:txBody>
      </p:sp>
      <p:sp>
        <p:nvSpPr>
          <p:cNvPr id="42" name="Rounded Rectangle 41"/>
          <p:cNvSpPr/>
          <p:nvPr/>
        </p:nvSpPr>
        <p:spPr>
          <a:xfrm>
            <a:off x="9656063" y="1417320"/>
            <a:ext cx="2103120" cy="448056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04703" y="1691640"/>
            <a:ext cx="1005840" cy="1005840"/>
          </a:xfrm>
          <a:prstGeom prst="ellipse">
            <a:avLst/>
          </a:prstGeom>
          <a:solidFill>
            <a:srgbClr val="EEF3F9"/>
          </a:solidFill>
          <a:ln w="15875">
            <a:solidFill>
              <a:srgbClr val="1D5C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04703" y="1691640"/>
            <a:ext cx="1005840" cy="1005840"/>
          </a:xfrm>
          <a:prstGeom prst="rect">
            <a:avLst/>
          </a:prstGeom>
          <a:noFill/>
        </p:spPr>
        <p:txBody>
          <a:bodyPr wrap="square" anchor="ctr" lIns="0" rIns="0" tIns="0" bIns="0">
            <a:spAutoFit/>
          </a:bodyPr>
          <a:lstStyle/>
          <a:p>
            <a:pPr algn="ctr">
              <a:lnSpc>
                <a:spcPct val="100000"/>
              </a:lnSpc>
              <a:spcBef>
                <a:spcPts val="0"/>
              </a:spcBef>
              <a:spcAft>
                <a:spcPts val="400"/>
              </a:spcAft>
            </a:pPr>
            <a:r>
              <a:rPr sz="2600" b="1" i="0">
                <a:solidFill>
                  <a:srgbClr val="1D5C9E"/>
                </a:solidFill>
                <a:latin typeface="Cambria"/>
              </a:rPr>
              <a:t>JN</a:t>
            </a:r>
          </a:p>
        </p:txBody>
      </p:sp>
      <p:sp>
        <p:nvSpPr>
          <p:cNvPr id="45" name="TextBox 44"/>
          <p:cNvSpPr txBox="1"/>
          <p:nvPr/>
        </p:nvSpPr>
        <p:spPr>
          <a:xfrm>
            <a:off x="9747503" y="2788920"/>
            <a:ext cx="1920239" cy="365760"/>
          </a:xfrm>
          <a:prstGeom prst="rect">
            <a:avLst/>
          </a:prstGeom>
          <a:noFill/>
        </p:spPr>
        <p:txBody>
          <a:bodyPr wrap="square" anchor="t" lIns="0" rIns="0" tIns="0" bIns="0">
            <a:spAutoFit/>
          </a:bodyPr>
          <a:lstStyle/>
          <a:p>
            <a:pPr algn="ctr">
              <a:lnSpc>
                <a:spcPct val="100000"/>
              </a:lnSpc>
              <a:spcBef>
                <a:spcPts val="0"/>
              </a:spcBef>
              <a:spcAft>
                <a:spcPts val="400"/>
              </a:spcAft>
            </a:pPr>
            <a:r>
              <a:rPr sz="1500" b="1" i="0">
                <a:solidFill>
                  <a:srgbClr val="153763"/>
                </a:solidFill>
                <a:latin typeface="Calibri"/>
              </a:rPr>
              <a:t>John N.</a:t>
            </a:r>
          </a:p>
        </p:txBody>
      </p:sp>
      <p:sp>
        <p:nvSpPr>
          <p:cNvPr id="46" name="Rounded Rectangle 45"/>
          <p:cNvSpPr/>
          <p:nvPr/>
        </p:nvSpPr>
        <p:spPr>
          <a:xfrm>
            <a:off x="9838944" y="3172968"/>
            <a:ext cx="1737360" cy="384048"/>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38944" y="3172968"/>
            <a:ext cx="1737360" cy="384048"/>
          </a:xfrm>
          <a:prstGeom prst="rect">
            <a:avLst/>
          </a:prstGeom>
          <a:noFill/>
        </p:spPr>
        <p:txBody>
          <a:bodyPr wrap="square" anchor="ctr" lIns="0" rIns="0" tIns="0" bIns="0">
            <a:spAutoFit/>
          </a:bodyPr>
          <a:lstStyle/>
          <a:p>
            <a:pPr algn="ctr">
              <a:lnSpc>
                <a:spcPct val="100000"/>
              </a:lnSpc>
              <a:spcBef>
                <a:spcPts val="0"/>
              </a:spcBef>
              <a:spcAft>
                <a:spcPts val="400"/>
              </a:spcAft>
            </a:pPr>
            <a:r>
              <a:rPr sz="1200" b="1" i="0">
                <a:solidFill>
                  <a:srgbClr val="FFFFFF"/>
                </a:solidFill>
                <a:latin typeface="Calibri"/>
              </a:rPr>
              <a:t>29 credits</a:t>
            </a:r>
          </a:p>
        </p:txBody>
      </p:sp>
      <p:sp>
        <p:nvSpPr>
          <p:cNvPr id="48" name="TextBox 47"/>
          <p:cNvSpPr txBox="1"/>
          <p:nvPr/>
        </p:nvSpPr>
        <p:spPr>
          <a:xfrm>
            <a:off x="9765791" y="3703320"/>
            <a:ext cx="1883663" cy="1280160"/>
          </a:xfrm>
          <a:prstGeom prst="rect">
            <a:avLst/>
          </a:prstGeom>
          <a:noFill/>
        </p:spPr>
        <p:txBody>
          <a:bodyPr wrap="square" anchor="t" lIns="0" rIns="0" tIns="0" bIns="0">
            <a:spAutoFit/>
          </a:bodyPr>
          <a:lstStyle/>
          <a:p>
            <a:pPr algn="ctr">
              <a:lnSpc>
                <a:spcPct val="102000"/>
              </a:lnSpc>
              <a:spcBef>
                <a:spcPts val="0"/>
              </a:spcBef>
              <a:spcAft>
                <a:spcPts val="600"/>
              </a:spcAft>
            </a:pPr>
            <a:r>
              <a:rPr sz="1100" b="1" i="0">
                <a:solidFill>
                  <a:srgbClr val="2E7D46"/>
                </a:solidFill>
                <a:latin typeface="Calibri"/>
              </a:rPr>
              <a:t>✓ Industry Certifications</a:t>
            </a:r>
          </a:p>
          <a:p>
            <a:pPr algn="ctr">
              <a:lnSpc>
                <a:spcPct val="102000"/>
              </a:lnSpc>
              <a:spcBef>
                <a:spcPts val="0"/>
              </a:spcBef>
              <a:spcAft>
                <a:spcPts val="600"/>
              </a:spcAft>
            </a:pPr>
            <a:r>
              <a:rPr sz="1200" b="0" i="0">
                <a:solidFill>
                  <a:srgbClr val="222A33"/>
                </a:solidFill>
                <a:latin typeface="Calibri"/>
              </a:rPr>
              <a:t>Firefighter → Public Safety B.S.</a:t>
            </a:r>
          </a:p>
        </p:txBody>
      </p:sp>
      <p:sp>
        <p:nvSpPr>
          <p:cNvPr id="49" name="Rounded Rectangle 48"/>
          <p:cNvSpPr/>
          <p:nvPr/>
        </p:nvSpPr>
        <p:spPr>
          <a:xfrm>
            <a:off x="9765791" y="5394960"/>
            <a:ext cx="1883663" cy="402336"/>
          </a:xfrm>
          <a:prstGeom prst="round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65791" y="5394960"/>
            <a:ext cx="1883663" cy="402336"/>
          </a:xfrm>
          <a:prstGeom prst="rect">
            <a:avLst/>
          </a:prstGeom>
          <a:noFill/>
        </p:spPr>
        <p:txBody>
          <a:bodyPr wrap="square" anchor="ctr" lIns="0" rIns="0" tIns="0" bIns="0">
            <a:spAutoFit/>
          </a:bodyPr>
          <a:lstStyle/>
          <a:p>
            <a:pPr algn="ctr">
              <a:lnSpc>
                <a:spcPct val="100000"/>
              </a:lnSpc>
              <a:spcBef>
                <a:spcPts val="0"/>
              </a:spcBef>
              <a:spcAft>
                <a:spcPts val="400"/>
              </a:spcAft>
            </a:pPr>
            <a:r>
              <a:rPr sz="1050" b="1" i="0">
                <a:solidFill>
                  <a:srgbClr val="556372"/>
                </a:solidFill>
                <a:latin typeface="Calibri"/>
              </a:rPr>
              <a:t>Moreno Valley</a:t>
            </a:r>
          </a:p>
        </p:txBody>
      </p:sp>
      <p:sp>
        <p:nvSpPr>
          <p:cNvPr id="51" name="TextBox 50"/>
          <p:cNvSpPr txBox="1"/>
          <p:nvPr/>
        </p:nvSpPr>
        <p:spPr>
          <a:xfrm>
            <a:off x="502920" y="6455664"/>
            <a:ext cx="8686800" cy="320040"/>
          </a:xfrm>
          <a:prstGeom prst="rect">
            <a:avLst/>
          </a:prstGeom>
          <a:noFill/>
        </p:spPr>
        <p:txBody>
          <a:bodyPr wrap="square" anchor="ctr" lIns="0" rIns="0" tIns="0" bIns="0">
            <a:spAutoFit/>
          </a:bodyPr>
          <a:lstStyle/>
          <a:p>
            <a:pPr algn="l">
              <a:lnSpc>
                <a:spcPct val="100000"/>
              </a:lnSpc>
              <a:spcBef>
                <a:spcPts val="0"/>
              </a:spcBef>
              <a:spcAft>
                <a:spcPts val="400"/>
              </a:spcAft>
            </a:pPr>
            <a:r>
              <a:rPr sz="900" b="0" i="0">
                <a:solidFill>
                  <a:srgbClr val="556372"/>
                </a:solidFill>
                <a:latin typeface="Calibri"/>
              </a:rPr>
              <a:t>Real students · real credit · real momentum toward a degree</a:t>
            </a:r>
          </a:p>
        </p:txBody>
      </p:sp>
      <p:sp>
        <p:nvSpPr>
          <p:cNvPr id="52" name="TextBox 51"/>
          <p:cNvSpPr txBox="1"/>
          <p:nvPr/>
        </p:nvSpPr>
        <p:spPr>
          <a:xfrm>
            <a:off x="11292840" y="6455664"/>
            <a:ext cx="64008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0" i="0">
                <a:solidFill>
                  <a:srgbClr val="556372"/>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106424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8A32C"/>
                </a:solidFill>
                <a:latin typeface="Calibri"/>
              </a:rPr>
              <a:t>STUDENT STORY · 2-MINUTE VIDEO</a:t>
            </a:r>
          </a:p>
        </p:txBody>
      </p:sp>
      <p:sp>
        <p:nvSpPr>
          <p:cNvPr id="4" name="TextBox 3"/>
          <p:cNvSpPr txBox="1"/>
          <p:nvPr/>
        </p:nvSpPr>
        <p:spPr>
          <a:xfrm>
            <a:off x="548640" y="896112"/>
            <a:ext cx="11064240" cy="640080"/>
          </a:xfrm>
          <a:prstGeom prst="rect">
            <a:avLst/>
          </a:prstGeom>
          <a:noFill/>
        </p:spPr>
        <p:txBody>
          <a:bodyPr wrap="square" anchor="t" lIns="0" rIns="0" tIns="0" bIns="0">
            <a:spAutoFit/>
          </a:bodyPr>
          <a:lstStyle/>
          <a:p>
            <a:pPr algn="l">
              <a:lnSpc>
                <a:spcPct val="100000"/>
              </a:lnSpc>
              <a:spcBef>
                <a:spcPts val="0"/>
              </a:spcBef>
              <a:spcAft>
                <a:spcPts val="400"/>
              </a:spcAft>
            </a:pPr>
            <a:r>
              <a:rPr sz="3000" b="1" i="0">
                <a:solidFill>
                  <a:srgbClr val="FFFFFF"/>
                </a:solidFill>
                <a:latin typeface="Cambria"/>
              </a:rPr>
              <a:t>From First Responder to a Degree</a:t>
            </a:r>
          </a:p>
        </p:txBody>
      </p:sp>
      <p:sp>
        <p:nvSpPr>
          <p:cNvPr id="5" name="Rounded Rectangle 4"/>
          <p:cNvSpPr/>
          <p:nvPr/>
        </p:nvSpPr>
        <p:spPr>
          <a:xfrm>
            <a:off x="1965960" y="1828800"/>
            <a:ext cx="8229600" cy="3703320"/>
          </a:xfrm>
          <a:prstGeom prst="roundRect">
            <a:avLst/>
          </a:prstGeom>
          <a:solidFill>
            <a:srgbClr val="0A1F38"/>
          </a:solidFill>
          <a:ln w="19050">
            <a:solidFill>
              <a:srgbClr val="2A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40680" y="3040380"/>
            <a:ext cx="1280160" cy="1280160"/>
          </a:xfrm>
          <a:prstGeom prst="ellipse">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rot="5400000">
            <a:off x="5861304" y="3387852"/>
            <a:ext cx="502920" cy="585216"/>
          </a:xfrm>
          <a:prstGeom prst="triangle">
            <a:avLst/>
          </a:prstGeom>
          <a:solidFill>
            <a:srgbClr val="0F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4572000"/>
            <a:ext cx="8229600" cy="822960"/>
          </a:xfrm>
          <a:prstGeom prst="rect">
            <a:avLst/>
          </a:prstGeom>
          <a:noFill/>
        </p:spPr>
        <p:txBody>
          <a:bodyPr wrap="square" anchor="t" lIns="0" rIns="0" tIns="0" bIns="0">
            <a:spAutoFit/>
          </a:bodyPr>
          <a:lstStyle/>
          <a:p>
            <a:pPr algn="ctr">
              <a:lnSpc>
                <a:spcPct val="100000"/>
              </a:lnSpc>
              <a:spcBef>
                <a:spcPts val="0"/>
              </a:spcBef>
              <a:spcAft>
                <a:spcPts val="300"/>
              </a:spcAft>
            </a:pPr>
            <a:r>
              <a:rPr sz="1700" b="1" i="0">
                <a:solidFill>
                  <a:srgbClr val="FFFFFF"/>
                </a:solidFill>
                <a:latin typeface="Calibri"/>
              </a:rPr>
              <a:t>An EMT’s path — Moreno Valley College</a:t>
            </a:r>
          </a:p>
          <a:p>
            <a:pPr algn="ctr">
              <a:lnSpc>
                <a:spcPct val="100000"/>
              </a:lnSpc>
              <a:spcBef>
                <a:spcPts val="0"/>
              </a:spcBef>
              <a:spcAft>
                <a:spcPts val="300"/>
              </a:spcAft>
            </a:pPr>
            <a:r>
              <a:rPr sz="1250" b="0" i="1">
                <a:solidFill>
                  <a:srgbClr val="B9CBE0"/>
                </a:solidFill>
                <a:latin typeface="Calibri"/>
              </a:rPr>
              <a:t>[ Insert 2-minute student story video here ]</a:t>
            </a:r>
          </a:p>
        </p:txBody>
      </p:sp>
      <p:sp>
        <p:nvSpPr>
          <p:cNvPr id="9" name="TextBox 8"/>
          <p:cNvSpPr txBox="1"/>
          <p:nvPr/>
        </p:nvSpPr>
        <p:spPr>
          <a:xfrm>
            <a:off x="548640" y="5806440"/>
            <a:ext cx="11064240" cy="457200"/>
          </a:xfrm>
          <a:prstGeom prst="rect">
            <a:avLst/>
          </a:prstGeom>
          <a:noFill/>
        </p:spPr>
        <p:txBody>
          <a:bodyPr wrap="square" anchor="t" lIns="0" rIns="0" tIns="0" bIns="0">
            <a:spAutoFit/>
          </a:bodyPr>
          <a:lstStyle/>
          <a:p>
            <a:pPr algn="ctr">
              <a:lnSpc>
                <a:spcPct val="100000"/>
              </a:lnSpc>
              <a:spcBef>
                <a:spcPts val="0"/>
              </a:spcBef>
              <a:spcAft>
                <a:spcPts val="400"/>
              </a:spcAft>
            </a:pPr>
            <a:r>
              <a:rPr sz="1450" b="0" i="1">
                <a:solidFill>
                  <a:srgbClr val="CFDDEE"/>
                </a:solidFill>
                <a:latin typeface="Calibri"/>
              </a:rPr>
              <a:t>Emergency medical training → college credit → a faster path to a bachelor’s degree.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D5C9E"/>
                </a:solidFill>
                <a:latin typeface="Calibri"/>
              </a:rPr>
              <a:t>CPL IN ACTION · A SAMPLE PATHWAY</a:t>
            </a:r>
          </a:p>
        </p:txBody>
      </p:sp>
      <p:sp>
        <p:nvSpPr>
          <p:cNvPr id="4" name="TextBox 3"/>
          <p:cNvSpPr txBox="1"/>
          <p:nvPr/>
        </p:nvSpPr>
        <p:spPr>
          <a:xfrm>
            <a:off x="548640" y="841247"/>
            <a:ext cx="11064240" cy="914400"/>
          </a:xfrm>
          <a:prstGeom prst="rect">
            <a:avLst/>
          </a:prstGeom>
          <a:noFill/>
        </p:spPr>
        <p:txBody>
          <a:bodyPr wrap="square" anchor="t" lIns="0" rIns="0" tIns="0" bIns="0">
            <a:spAutoFit/>
          </a:bodyPr>
          <a:lstStyle/>
          <a:p>
            <a:pPr algn="l">
              <a:lnSpc>
                <a:spcPct val="98000"/>
              </a:lnSpc>
              <a:spcBef>
                <a:spcPts val="0"/>
              </a:spcBef>
              <a:spcAft>
                <a:spcPts val="0"/>
              </a:spcAft>
            </a:pPr>
            <a:r>
              <a:rPr sz="3000" b="1" i="0">
                <a:solidFill>
                  <a:srgbClr val="153763"/>
                </a:solidFill>
                <a:latin typeface="Cambria"/>
              </a:rPr>
              <a:t>Moreno Valley College — B.S. Emergency Management</a:t>
            </a:r>
          </a:p>
        </p:txBody>
      </p:sp>
      <p:sp>
        <p:nvSpPr>
          <p:cNvPr id="5" name="Rectangle 4"/>
          <p:cNvSpPr/>
          <p:nvPr/>
        </p:nvSpPr>
        <p:spPr>
          <a:xfrm>
            <a:off x="566928" y="1426464"/>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1064240" cy="457200"/>
          </a:xfrm>
          <a:prstGeom prst="rect">
            <a:avLst/>
          </a:prstGeom>
          <a:noFill/>
        </p:spPr>
        <p:txBody>
          <a:bodyPr wrap="square" anchor="t" lIns="0" rIns="0" tIns="0" bIns="0">
            <a:spAutoFit/>
          </a:bodyPr>
          <a:lstStyle/>
          <a:p>
            <a:pPr algn="l">
              <a:lnSpc>
                <a:spcPct val="100000"/>
              </a:lnSpc>
              <a:spcBef>
                <a:spcPts val="0"/>
              </a:spcBef>
              <a:spcAft>
                <a:spcPts val="400"/>
              </a:spcAft>
            </a:pPr>
            <a:r>
              <a:rPr sz="1450" b="0" i="1">
                <a:solidFill>
                  <a:srgbClr val="556372"/>
                </a:solidFill>
                <a:latin typeface="Calibri"/>
              </a:rPr>
              <a:t>Illustrative — how a first responder stacks prior learning into a bachelor’s degree.</a:t>
            </a:r>
          </a:p>
        </p:txBody>
      </p:sp>
      <p:sp>
        <p:nvSpPr>
          <p:cNvPr id="7" name="Rounded Rectangle 6"/>
          <p:cNvSpPr/>
          <p:nvPr/>
        </p:nvSpPr>
        <p:spPr>
          <a:xfrm>
            <a:off x="548640" y="2514600"/>
            <a:ext cx="2615184" cy="22860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514600"/>
            <a:ext cx="2615184" cy="45720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743200"/>
            <a:ext cx="2615184" cy="22860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14600"/>
            <a:ext cx="2432303"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PRIOR LEARNING</a:t>
            </a:r>
          </a:p>
        </p:txBody>
      </p:sp>
      <p:sp>
        <p:nvSpPr>
          <p:cNvPr id="11" name="TextBox 10"/>
          <p:cNvSpPr txBox="1"/>
          <p:nvPr/>
        </p:nvSpPr>
        <p:spPr>
          <a:xfrm>
            <a:off x="713232" y="3081528"/>
            <a:ext cx="2286000" cy="1600200"/>
          </a:xfrm>
          <a:prstGeom prst="rect">
            <a:avLst/>
          </a:prstGeom>
          <a:noFill/>
        </p:spPr>
        <p:txBody>
          <a:bodyPr wrap="square" anchor="ctr" lIns="0" rIns="0" tIns="0" bIns="0">
            <a:spAutoFit/>
          </a:bodyPr>
          <a:lstStyle/>
          <a:p>
            <a:pPr algn="l">
              <a:lnSpc>
                <a:spcPct val="106000"/>
              </a:lnSpc>
              <a:spcBef>
                <a:spcPts val="0"/>
              </a:spcBef>
              <a:spcAft>
                <a:spcPts val="400"/>
              </a:spcAft>
            </a:pPr>
            <a:r>
              <a:rPr sz="1250" b="0" i="0">
                <a:solidFill>
                  <a:srgbClr val="222A33"/>
                </a:solidFill>
                <a:latin typeface="Calibri"/>
              </a:rPr>
              <a:t>EMT certification · Fire academy · EMS &amp; first-responder training · military service</a:t>
            </a:r>
          </a:p>
        </p:txBody>
      </p:sp>
      <p:sp>
        <p:nvSpPr>
          <p:cNvPr id="12" name="Right Arrow 11"/>
          <p:cNvSpPr/>
          <p:nvPr/>
        </p:nvSpPr>
        <p:spPr>
          <a:xfrm>
            <a:off x="3172968" y="3511296"/>
            <a:ext cx="201168" cy="292608"/>
          </a:xfrm>
          <a:prstGeom prst="rightArrow">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79" y="2514600"/>
            <a:ext cx="2615184" cy="22860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83279" y="2514600"/>
            <a:ext cx="2615184" cy="457200"/>
          </a:xfrm>
          <a:prstGeom prst="roundRect">
            <a:avLst/>
          </a:prstGeom>
          <a:solidFill>
            <a:srgbClr val="2A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83279" y="2743200"/>
            <a:ext cx="2615184" cy="228600"/>
          </a:xfrm>
          <a:prstGeom prst="rect">
            <a:avLst/>
          </a:prstGeom>
          <a:solidFill>
            <a:srgbClr val="2A6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2514600"/>
            <a:ext cx="2432303"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CPL CREDIT</a:t>
            </a:r>
          </a:p>
        </p:txBody>
      </p:sp>
      <p:sp>
        <p:nvSpPr>
          <p:cNvPr id="17" name="TextBox 16"/>
          <p:cNvSpPr txBox="1"/>
          <p:nvPr/>
        </p:nvSpPr>
        <p:spPr>
          <a:xfrm>
            <a:off x="3547872" y="3081528"/>
            <a:ext cx="2286000" cy="1600200"/>
          </a:xfrm>
          <a:prstGeom prst="rect">
            <a:avLst/>
          </a:prstGeom>
          <a:noFill/>
        </p:spPr>
        <p:txBody>
          <a:bodyPr wrap="square" anchor="ctr" lIns="0" rIns="0" tIns="0" bIns="0">
            <a:spAutoFit/>
          </a:bodyPr>
          <a:lstStyle/>
          <a:p>
            <a:pPr algn="l">
              <a:lnSpc>
                <a:spcPct val="106000"/>
              </a:lnSpc>
              <a:spcBef>
                <a:spcPts val="0"/>
              </a:spcBef>
              <a:spcAft>
                <a:spcPts val="400"/>
              </a:spcAft>
            </a:pPr>
            <a:r>
              <a:rPr sz="1250" b="0" i="0">
                <a:solidFill>
                  <a:srgbClr val="222A33"/>
                </a:solidFill>
                <a:latin typeface="Calibri"/>
              </a:rPr>
              <a:t>Verified against statewide credit recommendations — e.g. EMT (7u) + Basic Fire Academy (up to 24u)</a:t>
            </a:r>
          </a:p>
        </p:txBody>
      </p:sp>
      <p:sp>
        <p:nvSpPr>
          <p:cNvPr id="18" name="Right Arrow 17"/>
          <p:cNvSpPr/>
          <p:nvPr/>
        </p:nvSpPr>
        <p:spPr>
          <a:xfrm>
            <a:off x="6007607" y="3511296"/>
            <a:ext cx="201168" cy="292608"/>
          </a:xfrm>
          <a:prstGeom prst="rightArrow">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17919" y="2514600"/>
            <a:ext cx="2615184" cy="22860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7919" y="2514600"/>
            <a:ext cx="2615184" cy="457200"/>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19" y="2743200"/>
            <a:ext cx="2615184" cy="228600"/>
          </a:xfrm>
          <a:prstGeom prst="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59" y="2514600"/>
            <a:ext cx="2432303"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QUALIFYING A.S.</a:t>
            </a:r>
          </a:p>
        </p:txBody>
      </p:sp>
      <p:sp>
        <p:nvSpPr>
          <p:cNvPr id="23" name="TextBox 22"/>
          <p:cNvSpPr txBox="1"/>
          <p:nvPr/>
        </p:nvSpPr>
        <p:spPr>
          <a:xfrm>
            <a:off x="6382511" y="3081528"/>
            <a:ext cx="2286000" cy="1600200"/>
          </a:xfrm>
          <a:prstGeom prst="rect">
            <a:avLst/>
          </a:prstGeom>
          <a:noFill/>
        </p:spPr>
        <p:txBody>
          <a:bodyPr wrap="square" anchor="ctr" lIns="0" rIns="0" tIns="0" bIns="0">
            <a:spAutoFit/>
          </a:bodyPr>
          <a:lstStyle/>
          <a:p>
            <a:pPr algn="l">
              <a:lnSpc>
                <a:spcPct val="106000"/>
              </a:lnSpc>
              <a:spcBef>
                <a:spcPts val="0"/>
              </a:spcBef>
              <a:spcAft>
                <a:spcPts val="400"/>
              </a:spcAft>
            </a:pPr>
            <a:r>
              <a:rPr sz="1250" b="0" i="0">
                <a:solidFill>
                  <a:srgbClr val="222A33"/>
                </a:solidFill>
                <a:latin typeface="Calibri"/>
              </a:rPr>
              <a:t>CPL applies to the associate degree that gates entry to the B.S.</a:t>
            </a:r>
          </a:p>
        </p:txBody>
      </p:sp>
      <p:sp>
        <p:nvSpPr>
          <p:cNvPr id="24" name="Right Arrow 23"/>
          <p:cNvSpPr/>
          <p:nvPr/>
        </p:nvSpPr>
        <p:spPr>
          <a:xfrm>
            <a:off x="8842247" y="3511296"/>
            <a:ext cx="201168" cy="292608"/>
          </a:xfrm>
          <a:prstGeom prst="rightArrow">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52559" y="2514600"/>
            <a:ext cx="2615184" cy="22860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052559" y="2514600"/>
            <a:ext cx="2615184" cy="457200"/>
          </a:xfrm>
          <a:prstGeom prst="round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52559" y="2743200"/>
            <a:ext cx="2615184" cy="22860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3999" y="2514600"/>
            <a:ext cx="2432303" cy="457200"/>
          </a:xfrm>
          <a:prstGeom prst="rect">
            <a:avLst/>
          </a:prstGeom>
          <a:noFill/>
        </p:spPr>
        <p:txBody>
          <a:bodyPr wrap="square" anchor="ctr" lIns="0" rIns="0" tIns="0" bIns="0">
            <a:spAutoFit/>
          </a:bodyPr>
          <a:lstStyle/>
          <a:p>
            <a:pPr algn="ctr">
              <a:lnSpc>
                <a:spcPct val="100000"/>
              </a:lnSpc>
              <a:spcBef>
                <a:spcPts val="0"/>
              </a:spcBef>
              <a:spcAft>
                <a:spcPts val="400"/>
              </a:spcAft>
            </a:pPr>
            <a:r>
              <a:rPr sz="1250" b="1" i="0">
                <a:solidFill>
                  <a:srgbClr val="FFFFFF"/>
                </a:solidFill>
                <a:latin typeface="Calibri"/>
              </a:rPr>
              <a:t>B.S. EMERGENCY MGMT</a:t>
            </a:r>
          </a:p>
        </p:txBody>
      </p:sp>
      <p:sp>
        <p:nvSpPr>
          <p:cNvPr id="29" name="TextBox 28"/>
          <p:cNvSpPr txBox="1"/>
          <p:nvPr/>
        </p:nvSpPr>
        <p:spPr>
          <a:xfrm>
            <a:off x="9217151" y="3081528"/>
            <a:ext cx="2286000" cy="1600200"/>
          </a:xfrm>
          <a:prstGeom prst="rect">
            <a:avLst/>
          </a:prstGeom>
          <a:noFill/>
        </p:spPr>
        <p:txBody>
          <a:bodyPr wrap="square" anchor="ctr" lIns="0" rIns="0" tIns="0" bIns="0">
            <a:spAutoFit/>
          </a:bodyPr>
          <a:lstStyle/>
          <a:p>
            <a:pPr algn="l">
              <a:lnSpc>
                <a:spcPct val="106000"/>
              </a:lnSpc>
              <a:spcBef>
                <a:spcPts val="0"/>
              </a:spcBef>
              <a:spcAft>
                <a:spcPts val="400"/>
              </a:spcAft>
            </a:pPr>
            <a:r>
              <a:rPr sz="1250" b="0" i="0">
                <a:solidFill>
                  <a:srgbClr val="222A33"/>
                </a:solidFill>
                <a:latin typeface="Calibri"/>
              </a:rPr>
              <a:t>Moreno Valley College · approved March 2026 — reached faster &amp; cheaper</a:t>
            </a:r>
          </a:p>
        </p:txBody>
      </p:sp>
      <p:sp>
        <p:nvSpPr>
          <p:cNvPr id="30" name="Rounded Rectangle 29"/>
          <p:cNvSpPr/>
          <p:nvPr/>
        </p:nvSpPr>
        <p:spPr>
          <a:xfrm>
            <a:off x="548640" y="5074920"/>
            <a:ext cx="11091672" cy="868680"/>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193792"/>
            <a:ext cx="10515600" cy="640080"/>
          </a:xfrm>
          <a:prstGeom prst="rect">
            <a:avLst/>
          </a:prstGeom>
          <a:noFill/>
        </p:spPr>
        <p:txBody>
          <a:bodyPr wrap="square" anchor="ctr" lIns="0" rIns="0" tIns="0" bIns="0">
            <a:spAutoFit/>
          </a:bodyPr>
          <a:lstStyle/>
          <a:p>
            <a:pPr algn="l">
              <a:lnSpc>
                <a:spcPct val="105000"/>
              </a:lnSpc>
              <a:spcBef>
                <a:spcPts val="0"/>
              </a:spcBef>
              <a:spcAft>
                <a:spcPts val="400"/>
              </a:spcAft>
            </a:pPr>
            <a:r>
              <a:rPr sz="1400" b="0" i="0">
                <a:solidFill>
                  <a:srgbClr val="FFFFFF"/>
                </a:solidFill>
                <a:latin typeface="Calibri"/>
              </a:rPr>
              <a:t>Because CPL counts toward the qualifying associate degree, students enter the bachelor’s program with credit already in hand — saving time, tuition, and repeated coursework.</a:t>
            </a:r>
          </a:p>
        </p:txBody>
      </p:sp>
      <p:sp>
        <p:nvSpPr>
          <p:cNvPr id="32" name="TextBox 31"/>
          <p:cNvSpPr txBox="1"/>
          <p:nvPr/>
        </p:nvSpPr>
        <p:spPr>
          <a:xfrm>
            <a:off x="502920" y="6455664"/>
            <a:ext cx="8686800" cy="320040"/>
          </a:xfrm>
          <a:prstGeom prst="rect">
            <a:avLst/>
          </a:prstGeom>
          <a:noFill/>
        </p:spPr>
        <p:txBody>
          <a:bodyPr wrap="square" anchor="ctr" lIns="0" rIns="0" tIns="0" bIns="0">
            <a:spAutoFit/>
          </a:bodyPr>
          <a:lstStyle/>
          <a:p>
            <a:pPr algn="l">
              <a:lnSpc>
                <a:spcPct val="100000"/>
              </a:lnSpc>
              <a:spcBef>
                <a:spcPts val="0"/>
              </a:spcBef>
              <a:spcAft>
                <a:spcPts val="400"/>
              </a:spcAft>
            </a:pPr>
            <a:r>
              <a:rPr sz="900" b="0" i="0">
                <a:solidFill>
                  <a:srgbClr val="556372"/>
                </a:solidFill>
                <a:latin typeface="Calibri"/>
              </a:rPr>
              <a:t>Illustrative pathway · unit values reflect published statewide Fire/EMS credit recommendations</a:t>
            </a:r>
          </a:p>
        </p:txBody>
      </p:sp>
      <p:sp>
        <p:nvSpPr>
          <p:cNvPr id="33" name="TextBox 32"/>
          <p:cNvSpPr txBox="1"/>
          <p:nvPr/>
        </p:nvSpPr>
        <p:spPr>
          <a:xfrm>
            <a:off x="11292840" y="6455664"/>
            <a:ext cx="64008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0" i="0">
                <a:solidFill>
                  <a:srgbClr val="556372"/>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D5C9E"/>
                </a:solidFill>
                <a:latin typeface="Calibri"/>
              </a:rPr>
              <a:t>COLLEGE-SUPPORTED, EMPLOYER-ENGAGED</a:t>
            </a:r>
          </a:p>
        </p:txBody>
      </p:sp>
      <p:sp>
        <p:nvSpPr>
          <p:cNvPr id="4" name="TextBox 3"/>
          <p:cNvSpPr txBox="1"/>
          <p:nvPr/>
        </p:nvSpPr>
        <p:spPr>
          <a:xfrm>
            <a:off x="548640" y="841247"/>
            <a:ext cx="11064240" cy="914400"/>
          </a:xfrm>
          <a:prstGeom prst="rect">
            <a:avLst/>
          </a:prstGeom>
          <a:noFill/>
        </p:spPr>
        <p:txBody>
          <a:bodyPr wrap="square" anchor="t" lIns="0" rIns="0" tIns="0" bIns="0">
            <a:spAutoFit/>
          </a:bodyPr>
          <a:lstStyle/>
          <a:p>
            <a:pPr algn="l">
              <a:lnSpc>
                <a:spcPct val="98000"/>
              </a:lnSpc>
              <a:spcBef>
                <a:spcPts val="0"/>
              </a:spcBef>
              <a:spcAft>
                <a:spcPts val="0"/>
              </a:spcAft>
            </a:pPr>
            <a:r>
              <a:rPr sz="3000" b="1" i="0">
                <a:solidFill>
                  <a:srgbClr val="153763"/>
                </a:solidFill>
                <a:latin typeface="Cambria"/>
              </a:rPr>
              <a:t>Built With — Not For — the Field</a:t>
            </a:r>
          </a:p>
        </p:txBody>
      </p:sp>
      <p:sp>
        <p:nvSpPr>
          <p:cNvPr id="5" name="Rectangle 4"/>
          <p:cNvSpPr/>
          <p:nvPr/>
        </p:nvSpPr>
        <p:spPr>
          <a:xfrm>
            <a:off x="566928" y="1426464"/>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01168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011680"/>
            <a:ext cx="3639312" cy="9144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240280"/>
            <a:ext cx="3227832" cy="1417319"/>
          </a:xfrm>
          <a:prstGeom prst="rect">
            <a:avLst/>
          </a:prstGeom>
          <a:noFill/>
        </p:spPr>
        <p:txBody>
          <a:bodyPr wrap="square" anchor="t" lIns="0" rIns="0" tIns="0" bIns="0">
            <a:spAutoFit/>
          </a:bodyPr>
          <a:lstStyle/>
          <a:p>
            <a:pPr algn="l">
              <a:lnSpc>
                <a:spcPct val="106000"/>
              </a:lnSpc>
              <a:spcBef>
                <a:spcPts val="0"/>
              </a:spcBef>
              <a:spcAft>
                <a:spcPts val="500"/>
              </a:spcAft>
            </a:pPr>
            <a:r>
              <a:rPr sz="1550" b="1" i="0">
                <a:solidFill>
                  <a:srgbClr val="153763"/>
                </a:solidFill>
                <a:latin typeface="Calibri"/>
              </a:rPr>
              <a:t>Faculty &amp; ASCCC</a:t>
            </a:r>
          </a:p>
          <a:p>
            <a:pPr algn="l">
              <a:lnSpc>
                <a:spcPct val="106000"/>
              </a:lnSpc>
              <a:spcBef>
                <a:spcPts val="0"/>
              </a:spcBef>
              <a:spcAft>
                <a:spcPts val="500"/>
              </a:spcAft>
            </a:pPr>
            <a:r>
              <a:rPr sz="1250" b="0" i="0">
                <a:solidFill>
                  <a:srgbClr val="222A33"/>
                </a:solidFill>
                <a:latin typeface="Calibri"/>
              </a:rPr>
              <a:t>Discipline faculty workgroups author the statewide credit recommendations colleges adopt.</a:t>
            </a:r>
          </a:p>
        </p:txBody>
      </p:sp>
      <p:sp>
        <p:nvSpPr>
          <p:cNvPr id="9" name="Rounded Rectangle 8"/>
          <p:cNvSpPr/>
          <p:nvPr/>
        </p:nvSpPr>
        <p:spPr>
          <a:xfrm>
            <a:off x="4361688" y="201168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2011680"/>
            <a:ext cx="3639312" cy="9144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2240280"/>
            <a:ext cx="3227832" cy="1417319"/>
          </a:xfrm>
          <a:prstGeom prst="rect">
            <a:avLst/>
          </a:prstGeom>
          <a:noFill/>
        </p:spPr>
        <p:txBody>
          <a:bodyPr wrap="square" anchor="t" lIns="0" rIns="0" tIns="0" bIns="0">
            <a:spAutoFit/>
          </a:bodyPr>
          <a:lstStyle/>
          <a:p>
            <a:pPr algn="l">
              <a:lnSpc>
                <a:spcPct val="106000"/>
              </a:lnSpc>
              <a:spcBef>
                <a:spcPts val="0"/>
              </a:spcBef>
              <a:spcAft>
                <a:spcPts val="500"/>
              </a:spcAft>
            </a:pPr>
            <a:r>
              <a:rPr sz="1550" b="1" i="0">
                <a:solidFill>
                  <a:srgbClr val="153763"/>
                </a:solidFill>
                <a:latin typeface="Calibri"/>
              </a:rPr>
              <a:t>Employers &amp; Industry</a:t>
            </a:r>
          </a:p>
          <a:p>
            <a:pPr algn="l">
              <a:lnSpc>
                <a:spcPct val="106000"/>
              </a:lnSpc>
              <a:spcBef>
                <a:spcPts val="0"/>
              </a:spcBef>
              <a:spcAft>
                <a:spcPts val="500"/>
              </a:spcAft>
            </a:pPr>
            <a:r>
              <a:rPr sz="1250" b="0" i="0">
                <a:solidFill>
                  <a:srgbClr val="222A33"/>
                </a:solidFill>
                <a:latin typeface="Calibri"/>
              </a:rPr>
              <a:t>Industry certifications (ASE, Cal-JAC &amp; more) map directly to college credit.</a:t>
            </a:r>
          </a:p>
        </p:txBody>
      </p:sp>
      <p:sp>
        <p:nvSpPr>
          <p:cNvPr id="12" name="Rounded Rectangle 11"/>
          <p:cNvSpPr/>
          <p:nvPr/>
        </p:nvSpPr>
        <p:spPr>
          <a:xfrm>
            <a:off x="8174736" y="201168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74736" y="2011680"/>
            <a:ext cx="3639312" cy="9144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2" y="2240280"/>
            <a:ext cx="3227832" cy="1417319"/>
          </a:xfrm>
          <a:prstGeom prst="rect">
            <a:avLst/>
          </a:prstGeom>
          <a:noFill/>
        </p:spPr>
        <p:txBody>
          <a:bodyPr wrap="square" anchor="t" lIns="0" rIns="0" tIns="0" bIns="0">
            <a:spAutoFit/>
          </a:bodyPr>
          <a:lstStyle/>
          <a:p>
            <a:pPr algn="l">
              <a:lnSpc>
                <a:spcPct val="106000"/>
              </a:lnSpc>
              <a:spcBef>
                <a:spcPts val="0"/>
              </a:spcBef>
              <a:spcAft>
                <a:spcPts val="500"/>
              </a:spcAft>
            </a:pPr>
            <a:r>
              <a:rPr sz="1550" b="1" i="0">
                <a:solidFill>
                  <a:srgbClr val="153763"/>
                </a:solidFill>
                <a:latin typeface="Calibri"/>
              </a:rPr>
              <a:t>Cal OES / CSTI</a:t>
            </a:r>
          </a:p>
          <a:p>
            <a:pPr algn="l">
              <a:lnSpc>
                <a:spcPct val="106000"/>
              </a:lnSpc>
              <a:spcBef>
                <a:spcPts val="0"/>
              </a:spcBef>
              <a:spcAft>
                <a:spcPts val="500"/>
              </a:spcAft>
            </a:pPr>
            <a:r>
              <a:rPr sz="1250" b="0" i="0">
                <a:solidFill>
                  <a:srgbClr val="222A33"/>
                </a:solidFill>
                <a:latin typeface="Calibri"/>
              </a:rPr>
              <a:t>New collaboration to articulate CSTI certifications into CCC Fire &amp; Public Safety courses.</a:t>
            </a:r>
          </a:p>
        </p:txBody>
      </p:sp>
      <p:sp>
        <p:nvSpPr>
          <p:cNvPr id="15" name="Rounded Rectangle 14"/>
          <p:cNvSpPr/>
          <p:nvPr/>
        </p:nvSpPr>
        <p:spPr>
          <a:xfrm>
            <a:off x="548640" y="3977639"/>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77639"/>
            <a:ext cx="3639312" cy="9144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4206240"/>
            <a:ext cx="3227832" cy="1417319"/>
          </a:xfrm>
          <a:prstGeom prst="rect">
            <a:avLst/>
          </a:prstGeom>
          <a:noFill/>
        </p:spPr>
        <p:txBody>
          <a:bodyPr wrap="square" anchor="t" lIns="0" rIns="0" tIns="0" bIns="0">
            <a:spAutoFit/>
          </a:bodyPr>
          <a:lstStyle/>
          <a:p>
            <a:pPr algn="l">
              <a:lnSpc>
                <a:spcPct val="106000"/>
              </a:lnSpc>
              <a:spcBef>
                <a:spcPts val="0"/>
              </a:spcBef>
              <a:spcAft>
                <a:spcPts val="500"/>
              </a:spcAft>
            </a:pPr>
            <a:r>
              <a:rPr sz="1550" b="1" i="0">
                <a:solidFill>
                  <a:srgbClr val="153763"/>
                </a:solidFill>
                <a:latin typeface="Calibri"/>
              </a:rPr>
              <a:t>The Military</a:t>
            </a:r>
          </a:p>
          <a:p>
            <a:pPr algn="l">
              <a:lnSpc>
                <a:spcPct val="106000"/>
              </a:lnSpc>
              <a:spcBef>
                <a:spcPts val="0"/>
              </a:spcBef>
              <a:spcAft>
                <a:spcPts val="500"/>
              </a:spcAft>
            </a:pPr>
            <a:r>
              <a:rPr sz="1250" b="0" i="0">
                <a:solidFill>
                  <a:srgbClr val="222A33"/>
                </a:solidFill>
                <a:latin typeface="Calibri"/>
              </a:rPr>
              <a:t>Joint Services Transcript (JST) credit for service members and veterans.</a:t>
            </a:r>
          </a:p>
        </p:txBody>
      </p:sp>
      <p:sp>
        <p:nvSpPr>
          <p:cNvPr id="18" name="Rounded Rectangle 17"/>
          <p:cNvSpPr/>
          <p:nvPr/>
        </p:nvSpPr>
        <p:spPr>
          <a:xfrm>
            <a:off x="4361688" y="3977639"/>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61688" y="3977639"/>
            <a:ext cx="3639312" cy="9144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81144" y="4206240"/>
            <a:ext cx="3227832" cy="1417319"/>
          </a:xfrm>
          <a:prstGeom prst="rect">
            <a:avLst/>
          </a:prstGeom>
          <a:noFill/>
        </p:spPr>
        <p:txBody>
          <a:bodyPr wrap="square" anchor="t" lIns="0" rIns="0" tIns="0" bIns="0">
            <a:spAutoFit/>
          </a:bodyPr>
          <a:lstStyle/>
          <a:p>
            <a:pPr algn="l">
              <a:lnSpc>
                <a:spcPct val="106000"/>
              </a:lnSpc>
              <a:spcBef>
                <a:spcPts val="0"/>
              </a:spcBef>
              <a:spcAft>
                <a:spcPts val="500"/>
              </a:spcAft>
            </a:pPr>
            <a:r>
              <a:rPr sz="1550" b="1" i="0">
                <a:solidFill>
                  <a:srgbClr val="153763"/>
                </a:solidFill>
                <a:latin typeface="Calibri"/>
              </a:rPr>
              <a:t>Apprenticeship</a:t>
            </a:r>
          </a:p>
          <a:p>
            <a:pPr algn="l">
              <a:lnSpc>
                <a:spcPct val="106000"/>
              </a:lnSpc>
              <a:spcBef>
                <a:spcPts val="0"/>
              </a:spcBef>
              <a:spcAft>
                <a:spcPts val="500"/>
              </a:spcAft>
            </a:pPr>
            <a:r>
              <a:rPr sz="1250" b="0" i="0">
                <a:solidFill>
                  <a:srgbClr val="222A33"/>
                </a:solidFill>
                <a:latin typeface="Calibri"/>
              </a:rPr>
              <a:t>Registered apprenticeship hours recognized toward degrees &amp; certificates.</a:t>
            </a:r>
          </a:p>
        </p:txBody>
      </p:sp>
      <p:sp>
        <p:nvSpPr>
          <p:cNvPr id="21" name="Rounded Rectangle 20"/>
          <p:cNvSpPr/>
          <p:nvPr/>
        </p:nvSpPr>
        <p:spPr>
          <a:xfrm>
            <a:off x="8174736" y="3977639"/>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74736" y="3977639"/>
            <a:ext cx="3639312" cy="9144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4192" y="4206240"/>
            <a:ext cx="3227832" cy="1417319"/>
          </a:xfrm>
          <a:prstGeom prst="rect">
            <a:avLst/>
          </a:prstGeom>
          <a:noFill/>
        </p:spPr>
        <p:txBody>
          <a:bodyPr wrap="square" anchor="t" lIns="0" rIns="0" tIns="0" bIns="0">
            <a:spAutoFit/>
          </a:bodyPr>
          <a:lstStyle/>
          <a:p>
            <a:pPr algn="l">
              <a:lnSpc>
                <a:spcPct val="106000"/>
              </a:lnSpc>
              <a:spcBef>
                <a:spcPts val="0"/>
              </a:spcBef>
              <a:spcAft>
                <a:spcPts val="500"/>
              </a:spcAft>
            </a:pPr>
            <a:r>
              <a:rPr sz="1550" b="1" i="0">
                <a:solidFill>
                  <a:srgbClr val="153763"/>
                </a:solidFill>
                <a:latin typeface="Calibri"/>
              </a:rPr>
              <a:t>CAEL / ACE</a:t>
            </a:r>
          </a:p>
          <a:p>
            <a:pPr algn="l">
              <a:lnSpc>
                <a:spcPct val="106000"/>
              </a:lnSpc>
              <a:spcBef>
                <a:spcPts val="0"/>
              </a:spcBef>
              <a:spcAft>
                <a:spcPts val="500"/>
              </a:spcAft>
            </a:pPr>
            <a:r>
              <a:rPr sz="1250" b="0" i="0">
                <a:solidFill>
                  <a:srgbClr val="222A33"/>
                </a:solidFill>
                <a:latin typeface="Calibri"/>
              </a:rPr>
              <a:t>National standards &amp; assessment partners anchoring credit quality.</a:t>
            </a:r>
          </a:p>
        </p:txBody>
      </p:sp>
      <p:sp>
        <p:nvSpPr>
          <p:cNvPr id="24" name="TextBox 23"/>
          <p:cNvSpPr txBox="1"/>
          <p:nvPr/>
        </p:nvSpPr>
        <p:spPr>
          <a:xfrm>
            <a:off x="502920" y="6455664"/>
            <a:ext cx="8686800" cy="320040"/>
          </a:xfrm>
          <a:prstGeom prst="rect">
            <a:avLst/>
          </a:prstGeom>
          <a:noFill/>
        </p:spPr>
        <p:txBody>
          <a:bodyPr wrap="square" anchor="ctr" lIns="0" rIns="0" tIns="0" bIns="0">
            <a:spAutoFit/>
          </a:bodyPr>
          <a:lstStyle/>
          <a:p>
            <a:pPr algn="l">
              <a:lnSpc>
                <a:spcPct val="100000"/>
              </a:lnSpc>
              <a:spcBef>
                <a:spcPts val="0"/>
              </a:spcBef>
              <a:spcAft>
                <a:spcPts val="400"/>
              </a:spcAft>
            </a:pPr>
            <a:r>
              <a:rPr sz="900" b="0" i="0">
                <a:solidFill>
                  <a:srgbClr val="556372"/>
                </a:solidFill>
                <a:latin typeface="Calibri"/>
              </a:rPr>
              <a:t>Siloed → Shared: credit recommendations built once, adopted statewide</a:t>
            </a:r>
          </a:p>
        </p:txBody>
      </p:sp>
      <p:sp>
        <p:nvSpPr>
          <p:cNvPr id="25" name="TextBox 24"/>
          <p:cNvSpPr txBox="1"/>
          <p:nvPr/>
        </p:nvSpPr>
        <p:spPr>
          <a:xfrm>
            <a:off x="11292840" y="6455664"/>
            <a:ext cx="64008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0" i="0">
                <a:solidFill>
                  <a:srgbClr val="556372"/>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02920"/>
            <a:ext cx="11064240" cy="365760"/>
          </a:xfrm>
          <a:prstGeom prst="rect">
            <a:avLst/>
          </a:prstGeom>
          <a:noFill/>
        </p:spPr>
        <p:txBody>
          <a:bodyPr wrap="square" anchor="t" lIns="0" rIns="0" tIns="0" bIns="0">
            <a:spAutoFit/>
          </a:bodyPr>
          <a:lstStyle/>
          <a:p>
            <a:pPr algn="l">
              <a:lnSpc>
                <a:spcPct val="100000"/>
              </a:lnSpc>
              <a:spcBef>
                <a:spcPts val="0"/>
              </a:spcBef>
              <a:spcAft>
                <a:spcPts val="400"/>
              </a:spcAft>
            </a:pPr>
            <a:r>
              <a:rPr sz="1300" b="1" i="0">
                <a:solidFill>
                  <a:srgbClr val="E8A32C"/>
                </a:solidFill>
                <a:latin typeface="Calibri"/>
              </a:rPr>
              <a:t>A STATEWIDE MODEL IN ACTION</a:t>
            </a:r>
          </a:p>
        </p:txBody>
      </p:sp>
      <p:sp>
        <p:nvSpPr>
          <p:cNvPr id="5" name="TextBox 4"/>
          <p:cNvSpPr txBox="1"/>
          <p:nvPr/>
        </p:nvSpPr>
        <p:spPr>
          <a:xfrm>
            <a:off x="548640" y="896112"/>
            <a:ext cx="11064240" cy="640080"/>
          </a:xfrm>
          <a:prstGeom prst="rect">
            <a:avLst/>
          </a:prstGeom>
          <a:noFill/>
        </p:spPr>
        <p:txBody>
          <a:bodyPr wrap="square" anchor="t" lIns="0" rIns="0" tIns="0" bIns="0">
            <a:spAutoFit/>
          </a:bodyPr>
          <a:lstStyle/>
          <a:p>
            <a:pPr algn="l">
              <a:lnSpc>
                <a:spcPct val="100000"/>
              </a:lnSpc>
              <a:spcBef>
                <a:spcPts val="0"/>
              </a:spcBef>
              <a:spcAft>
                <a:spcPts val="400"/>
              </a:spcAft>
            </a:pPr>
            <a:r>
              <a:rPr sz="3200" b="1" i="0">
                <a:solidFill>
                  <a:srgbClr val="FFFFFF"/>
                </a:solidFill>
                <a:latin typeface="Cambria"/>
              </a:rPr>
              <a:t>Fire Technology — Leading the Way</a:t>
            </a:r>
          </a:p>
        </p:txBody>
      </p:sp>
      <p:sp>
        <p:nvSpPr>
          <p:cNvPr id="6" name="Rounded Rectangle 5"/>
          <p:cNvSpPr/>
          <p:nvPr/>
        </p:nvSpPr>
        <p:spPr>
          <a:xfrm>
            <a:off x="548640" y="1874519"/>
            <a:ext cx="2697480" cy="1508760"/>
          </a:xfrm>
          <a:prstGeom prst="roundRect">
            <a:avLst/>
          </a:prstGeom>
          <a:solidFill>
            <a:srgbClr val="183A63"/>
          </a:solidFill>
          <a:ln w="15875">
            <a:solidFill>
              <a:srgbClr val="2A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79"/>
            <a:ext cx="2478024" cy="1234439"/>
          </a:xfrm>
          <a:prstGeom prst="rect">
            <a:avLst/>
          </a:prstGeom>
          <a:noFill/>
        </p:spPr>
        <p:txBody>
          <a:bodyPr wrap="square" anchor="ctr" lIns="0" rIns="0" tIns="0" bIns="0">
            <a:spAutoFit/>
          </a:bodyPr>
          <a:lstStyle/>
          <a:p>
            <a:pPr algn="ctr">
              <a:lnSpc>
                <a:spcPct val="98000"/>
              </a:lnSpc>
              <a:spcBef>
                <a:spcPts val="0"/>
              </a:spcBef>
              <a:spcAft>
                <a:spcPts val="300"/>
              </a:spcAft>
            </a:pPr>
            <a:r>
              <a:rPr sz="3400" b="1" i="0">
                <a:solidFill>
                  <a:srgbClr val="E8A32C"/>
                </a:solidFill>
                <a:latin typeface="Cambria"/>
              </a:rPr>
              <a:t>294</a:t>
            </a:r>
          </a:p>
          <a:p>
            <a:pPr algn="ctr">
              <a:lnSpc>
                <a:spcPct val="98000"/>
              </a:lnSpc>
              <a:spcBef>
                <a:spcPts val="0"/>
              </a:spcBef>
              <a:spcAft>
                <a:spcPts val="300"/>
              </a:spcAft>
            </a:pPr>
            <a:r>
              <a:rPr sz="1200" b="0" i="0">
                <a:solidFill>
                  <a:srgbClr val="FFFFFF"/>
                </a:solidFill>
                <a:latin typeface="Calibri"/>
              </a:rPr>
              <a:t>statewide Fire credit recommendations</a:t>
            </a:r>
          </a:p>
        </p:txBody>
      </p:sp>
      <p:sp>
        <p:nvSpPr>
          <p:cNvPr id="8" name="Rounded Rectangle 7"/>
          <p:cNvSpPr/>
          <p:nvPr/>
        </p:nvSpPr>
        <p:spPr>
          <a:xfrm>
            <a:off x="3419856" y="1874519"/>
            <a:ext cx="2697480" cy="1508760"/>
          </a:xfrm>
          <a:prstGeom prst="roundRect">
            <a:avLst/>
          </a:prstGeom>
          <a:solidFill>
            <a:srgbClr val="183A63"/>
          </a:solidFill>
          <a:ln w="15875">
            <a:solidFill>
              <a:srgbClr val="2A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9584" y="2011679"/>
            <a:ext cx="2478024" cy="1234439"/>
          </a:xfrm>
          <a:prstGeom prst="rect">
            <a:avLst/>
          </a:prstGeom>
          <a:noFill/>
        </p:spPr>
        <p:txBody>
          <a:bodyPr wrap="square" anchor="ctr" lIns="0" rIns="0" tIns="0" bIns="0">
            <a:spAutoFit/>
          </a:bodyPr>
          <a:lstStyle/>
          <a:p>
            <a:pPr algn="ctr">
              <a:lnSpc>
                <a:spcPct val="98000"/>
              </a:lnSpc>
              <a:spcBef>
                <a:spcPts val="0"/>
              </a:spcBef>
              <a:spcAft>
                <a:spcPts val="300"/>
              </a:spcAft>
            </a:pPr>
            <a:r>
              <a:rPr sz="3400" b="1" i="0">
                <a:solidFill>
                  <a:srgbClr val="E8A32C"/>
                </a:solidFill>
                <a:latin typeface="Cambria"/>
              </a:rPr>
              <a:t>342</a:t>
            </a:r>
          </a:p>
          <a:p>
            <a:pPr algn="ctr">
              <a:lnSpc>
                <a:spcPct val="98000"/>
              </a:lnSpc>
              <a:spcBef>
                <a:spcPts val="0"/>
              </a:spcBef>
              <a:spcAft>
                <a:spcPts val="300"/>
              </a:spcAft>
            </a:pPr>
            <a:r>
              <a:rPr sz="1200" b="0" i="0">
                <a:solidFill>
                  <a:srgbClr val="FFFFFF"/>
                </a:solidFill>
                <a:latin typeface="Calibri"/>
              </a:rPr>
              <a:t>college adoptions to date</a:t>
            </a:r>
          </a:p>
        </p:txBody>
      </p:sp>
      <p:sp>
        <p:nvSpPr>
          <p:cNvPr id="10" name="Rounded Rectangle 9"/>
          <p:cNvSpPr/>
          <p:nvPr/>
        </p:nvSpPr>
        <p:spPr>
          <a:xfrm>
            <a:off x="6291072" y="1874519"/>
            <a:ext cx="2697480" cy="1508760"/>
          </a:xfrm>
          <a:prstGeom prst="roundRect">
            <a:avLst/>
          </a:prstGeom>
          <a:solidFill>
            <a:srgbClr val="183A63"/>
          </a:solidFill>
          <a:ln w="15875">
            <a:solidFill>
              <a:srgbClr val="2A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011679"/>
            <a:ext cx="2478024" cy="1234439"/>
          </a:xfrm>
          <a:prstGeom prst="rect">
            <a:avLst/>
          </a:prstGeom>
          <a:noFill/>
        </p:spPr>
        <p:txBody>
          <a:bodyPr wrap="square" anchor="ctr" lIns="0" rIns="0" tIns="0" bIns="0">
            <a:spAutoFit/>
          </a:bodyPr>
          <a:lstStyle/>
          <a:p>
            <a:pPr algn="ctr">
              <a:lnSpc>
                <a:spcPct val="98000"/>
              </a:lnSpc>
              <a:spcBef>
                <a:spcPts val="0"/>
              </a:spcBef>
              <a:spcAft>
                <a:spcPts val="300"/>
              </a:spcAft>
            </a:pPr>
            <a:r>
              <a:rPr sz="3400" b="1" i="0">
                <a:solidFill>
                  <a:srgbClr val="E8A32C"/>
                </a:solidFill>
                <a:latin typeface="Cambria"/>
              </a:rPr>
              <a:t>45</a:t>
            </a:r>
          </a:p>
          <a:p>
            <a:pPr algn="ctr">
              <a:lnSpc>
                <a:spcPct val="98000"/>
              </a:lnSpc>
              <a:spcBef>
                <a:spcPts val="0"/>
              </a:spcBef>
              <a:spcAft>
                <a:spcPts val="300"/>
              </a:spcAft>
            </a:pPr>
            <a:r>
              <a:rPr sz="1200" b="0" i="0">
                <a:solidFill>
                  <a:srgbClr val="FFFFFF"/>
                </a:solidFill>
                <a:latin typeface="Calibri"/>
              </a:rPr>
              <a:t>colleges eligible to adopt</a:t>
            </a:r>
          </a:p>
        </p:txBody>
      </p:sp>
      <p:sp>
        <p:nvSpPr>
          <p:cNvPr id="12" name="Rounded Rectangle 11"/>
          <p:cNvSpPr/>
          <p:nvPr/>
        </p:nvSpPr>
        <p:spPr>
          <a:xfrm>
            <a:off x="9162288" y="1874519"/>
            <a:ext cx="2697480" cy="1508760"/>
          </a:xfrm>
          <a:prstGeom prst="roundRect">
            <a:avLst/>
          </a:prstGeom>
          <a:solidFill>
            <a:srgbClr val="183A63"/>
          </a:solidFill>
          <a:ln w="15875">
            <a:solidFill>
              <a:srgbClr val="2A6D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72015" y="2011679"/>
            <a:ext cx="2478024" cy="1234439"/>
          </a:xfrm>
          <a:prstGeom prst="rect">
            <a:avLst/>
          </a:prstGeom>
          <a:noFill/>
        </p:spPr>
        <p:txBody>
          <a:bodyPr wrap="square" anchor="ctr" lIns="0" rIns="0" tIns="0" bIns="0">
            <a:spAutoFit/>
          </a:bodyPr>
          <a:lstStyle/>
          <a:p>
            <a:pPr algn="ctr">
              <a:lnSpc>
                <a:spcPct val="98000"/>
              </a:lnSpc>
              <a:spcBef>
                <a:spcPts val="0"/>
              </a:spcBef>
              <a:spcAft>
                <a:spcPts val="300"/>
              </a:spcAft>
            </a:pPr>
            <a:r>
              <a:rPr sz="3400" b="1" i="0">
                <a:solidFill>
                  <a:srgbClr val="E8A32C"/>
                </a:solidFill>
                <a:latin typeface="Cambria"/>
              </a:rPr>
              <a:t>~40</a:t>
            </a:r>
          </a:p>
          <a:p>
            <a:pPr algn="ctr">
              <a:lnSpc>
                <a:spcPct val="98000"/>
              </a:lnSpc>
              <a:spcBef>
                <a:spcPts val="0"/>
              </a:spcBef>
              <a:spcAft>
                <a:spcPts val="300"/>
              </a:spcAft>
            </a:pPr>
            <a:r>
              <a:rPr sz="1200" b="0" i="0">
                <a:solidFill>
                  <a:srgbClr val="FFFFFF"/>
                </a:solidFill>
                <a:latin typeface="Calibri"/>
              </a:rPr>
              <a:t>colleges with SFT programs &amp; academies</a:t>
            </a:r>
          </a:p>
        </p:txBody>
      </p:sp>
      <p:sp>
        <p:nvSpPr>
          <p:cNvPr id="14" name="Rounded Rectangle 13"/>
          <p:cNvSpPr/>
          <p:nvPr/>
        </p:nvSpPr>
        <p:spPr>
          <a:xfrm>
            <a:off x="548640" y="3657600"/>
            <a:ext cx="11091672" cy="1280160"/>
          </a:xfrm>
          <a:prstGeom prst="roundRect">
            <a:avLst/>
          </a:prstGeom>
          <a:solidFill>
            <a:srgbClr val="183A63"/>
          </a:solidFill>
          <a:ln w="19050">
            <a:solidFill>
              <a:srgbClr val="E8A3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785615"/>
            <a:ext cx="10515600" cy="365760"/>
          </a:xfrm>
          <a:prstGeom prst="rect">
            <a:avLst/>
          </a:prstGeom>
          <a:noFill/>
        </p:spPr>
        <p:txBody>
          <a:bodyPr wrap="square" anchor="t" lIns="0" rIns="0" tIns="0" bIns="0">
            <a:spAutoFit/>
          </a:bodyPr>
          <a:lstStyle/>
          <a:p>
            <a:pPr algn="l">
              <a:lnSpc>
                <a:spcPct val="100000"/>
              </a:lnSpc>
              <a:spcBef>
                <a:spcPts val="0"/>
              </a:spcBef>
              <a:spcAft>
                <a:spcPts val="400"/>
              </a:spcAft>
            </a:pPr>
            <a:r>
              <a:rPr sz="1500" b="1" i="0">
                <a:solidFill>
                  <a:srgbClr val="E8A32C"/>
                </a:solidFill>
                <a:latin typeface="Calibri"/>
              </a:rPr>
              <a:t>NEW — Cal OES / CSTI collaboration</a:t>
            </a:r>
          </a:p>
        </p:txBody>
      </p:sp>
      <p:sp>
        <p:nvSpPr>
          <p:cNvPr id="16" name="TextBox 15"/>
          <p:cNvSpPr txBox="1"/>
          <p:nvPr/>
        </p:nvSpPr>
        <p:spPr>
          <a:xfrm>
            <a:off x="822960" y="4160520"/>
            <a:ext cx="10561320" cy="731520"/>
          </a:xfrm>
          <a:prstGeom prst="rect">
            <a:avLst/>
          </a:prstGeom>
          <a:noFill/>
        </p:spPr>
        <p:txBody>
          <a:bodyPr wrap="square" anchor="t" lIns="0" rIns="0" tIns="0" bIns="0">
            <a:spAutoFit/>
          </a:bodyPr>
          <a:lstStyle/>
          <a:p>
            <a:pPr algn="l">
              <a:lnSpc>
                <a:spcPct val="108000"/>
              </a:lnSpc>
              <a:spcBef>
                <a:spcPts val="0"/>
              </a:spcBef>
              <a:spcAft>
                <a:spcPts val="400"/>
              </a:spcAft>
            </a:pPr>
            <a:r>
              <a:rPr sz="1450" b="0" i="0">
                <a:solidFill>
                  <a:srgbClr val="FFFFFF"/>
                </a:solidFill>
                <a:latin typeface="Calibri"/>
              </a:rPr>
              <a:t>Articulating CSTI certifications and offering stackable CSTI credit within existing Fire &amp; Public Safety courses — expanding sector capacity and helping California “train the trainers.”</a:t>
            </a:r>
          </a:p>
        </p:txBody>
      </p:sp>
      <p:sp>
        <p:nvSpPr>
          <p:cNvPr id="17" name="Rounded Rectangle 16"/>
          <p:cNvSpPr/>
          <p:nvPr/>
        </p:nvSpPr>
        <p:spPr>
          <a:xfrm>
            <a:off x="548640" y="5120640"/>
            <a:ext cx="11091672" cy="105156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230368"/>
            <a:ext cx="10515600" cy="822960"/>
          </a:xfrm>
          <a:prstGeom prst="rect">
            <a:avLst/>
          </a:prstGeom>
          <a:noFill/>
        </p:spPr>
        <p:txBody>
          <a:bodyPr wrap="square" anchor="ctr" lIns="0" rIns="0" tIns="0" bIns="0">
            <a:spAutoFit/>
          </a:bodyPr>
          <a:lstStyle/>
          <a:p>
            <a:pPr algn="l">
              <a:lnSpc>
                <a:spcPct val="100000"/>
              </a:lnSpc>
              <a:spcBef>
                <a:spcPts val="0"/>
              </a:spcBef>
              <a:spcAft>
                <a:spcPts val="300"/>
              </a:spcAft>
            </a:pPr>
            <a:r>
              <a:rPr sz="1800" b="1" i="0">
                <a:solidFill>
                  <a:srgbClr val="FFFFFF"/>
                </a:solidFill>
                <a:latin typeface="Calibri"/>
              </a:rPr>
              <a:t>Next: San Diego Miramar College</a:t>
            </a:r>
          </a:p>
          <a:p>
            <a:pPr algn="l">
              <a:lnSpc>
                <a:spcPct val="100000"/>
              </a:lnSpc>
              <a:spcBef>
                <a:spcPts val="0"/>
              </a:spcBef>
              <a:spcAft>
                <a:spcPts val="300"/>
              </a:spcAft>
            </a:pPr>
            <a:r>
              <a:rPr sz="1450" b="0" i="1">
                <a:solidFill>
                  <a:srgbClr val="E7EFF8"/>
                </a:solidFill>
                <a:latin typeface="Calibri"/>
              </a:rPr>
              <a:t>Faculty &amp; Dean — leading the statewide Fire Technology workgroup, in their own words.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50292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ccco_seal.png"/>
          <p:cNvPicPr>
            <a:picLocks noChangeAspect="1"/>
          </p:cNvPicPr>
          <p:nvPr/>
        </p:nvPicPr>
        <p:blipFill>
          <a:blip r:embed="rId2"/>
          <a:stretch>
            <a:fillRect/>
          </a:stretch>
        </p:blipFill>
        <p:spPr>
          <a:xfrm>
            <a:off x="5632704" y="640080"/>
            <a:ext cx="1304713" cy="1051560"/>
          </a:xfrm>
          <a:prstGeom prst="rect">
            <a:avLst/>
          </a:prstGeom>
        </p:spPr>
      </p:pic>
      <p:sp>
        <p:nvSpPr>
          <p:cNvPr id="5" name="TextBox 4"/>
          <p:cNvSpPr txBox="1"/>
          <p:nvPr/>
        </p:nvSpPr>
        <p:spPr>
          <a:xfrm>
            <a:off x="914400" y="2057400"/>
            <a:ext cx="10362895" cy="822960"/>
          </a:xfrm>
          <a:prstGeom prst="rect">
            <a:avLst/>
          </a:prstGeom>
          <a:noFill/>
        </p:spPr>
        <p:txBody>
          <a:bodyPr wrap="square" anchor="t" lIns="0" rIns="0" tIns="0" bIns="0">
            <a:spAutoFit/>
          </a:bodyPr>
          <a:lstStyle/>
          <a:p>
            <a:pPr algn="ctr">
              <a:lnSpc>
                <a:spcPct val="100000"/>
              </a:lnSpc>
              <a:spcBef>
                <a:spcPts val="0"/>
              </a:spcBef>
              <a:spcAft>
                <a:spcPts val="400"/>
              </a:spcAft>
            </a:pPr>
            <a:r>
              <a:rPr sz="2600" b="1" i="0">
                <a:solidFill>
                  <a:srgbClr val="FFFFFF"/>
                </a:solidFill>
                <a:latin typeface="Cambria"/>
              </a:rPr>
              <a:t>Student-First. College-Supported. Employer-Engaged.</a:t>
            </a:r>
          </a:p>
        </p:txBody>
      </p:sp>
      <p:sp>
        <p:nvSpPr>
          <p:cNvPr id="6" name="TextBox 5"/>
          <p:cNvSpPr txBox="1"/>
          <p:nvPr/>
        </p:nvSpPr>
        <p:spPr>
          <a:xfrm>
            <a:off x="914400" y="2971800"/>
            <a:ext cx="10362895" cy="548640"/>
          </a:xfrm>
          <a:prstGeom prst="rect">
            <a:avLst/>
          </a:prstGeom>
          <a:noFill/>
        </p:spPr>
        <p:txBody>
          <a:bodyPr wrap="square" anchor="t" lIns="0" rIns="0" tIns="0" bIns="0">
            <a:spAutoFit/>
          </a:bodyPr>
          <a:lstStyle/>
          <a:p>
            <a:pPr algn="ctr">
              <a:lnSpc>
                <a:spcPct val="100000"/>
              </a:lnSpc>
              <a:spcBef>
                <a:spcPts val="0"/>
              </a:spcBef>
              <a:spcAft>
                <a:spcPts val="400"/>
              </a:spcAft>
            </a:pPr>
            <a:r>
              <a:rPr sz="4000" b="1" i="0">
                <a:solidFill>
                  <a:srgbClr val="E8A32C"/>
                </a:solidFill>
                <a:latin typeface="Cambria"/>
              </a:rPr>
              <a:t>Thank You</a:t>
            </a:r>
          </a:p>
        </p:txBody>
      </p:sp>
      <p:sp>
        <p:nvSpPr>
          <p:cNvPr id="7" name="TextBox 6"/>
          <p:cNvSpPr txBox="1"/>
          <p:nvPr/>
        </p:nvSpPr>
        <p:spPr>
          <a:xfrm>
            <a:off x="914400" y="3886200"/>
            <a:ext cx="10362895" cy="548640"/>
          </a:xfrm>
          <a:prstGeom prst="rect">
            <a:avLst/>
          </a:prstGeom>
          <a:noFill/>
        </p:spPr>
        <p:txBody>
          <a:bodyPr wrap="square" anchor="t" lIns="0" rIns="0" tIns="0" bIns="0">
            <a:spAutoFit/>
          </a:bodyPr>
          <a:lstStyle/>
          <a:p>
            <a:pPr algn="ctr">
              <a:lnSpc>
                <a:spcPct val="100000"/>
              </a:lnSpc>
              <a:spcBef>
                <a:spcPts val="0"/>
              </a:spcBef>
              <a:spcAft>
                <a:spcPts val="400"/>
              </a:spcAft>
            </a:pPr>
            <a:r>
              <a:rPr sz="2000" b="0" i="1">
                <a:solidFill>
                  <a:srgbClr val="CFDDEE"/>
                </a:solidFill>
                <a:latin typeface="Calibri"/>
              </a:rPr>
              <a:t>Questions &amp; Discussion</a:t>
            </a:r>
          </a:p>
        </p:txBody>
      </p:sp>
      <p:sp>
        <p:nvSpPr>
          <p:cNvPr id="8" name="TextBox 7"/>
          <p:cNvSpPr txBox="1"/>
          <p:nvPr/>
        </p:nvSpPr>
        <p:spPr>
          <a:xfrm>
            <a:off x="914400" y="5532120"/>
            <a:ext cx="10362895" cy="640080"/>
          </a:xfrm>
          <a:prstGeom prst="rect">
            <a:avLst/>
          </a:prstGeom>
          <a:noFill/>
        </p:spPr>
        <p:txBody>
          <a:bodyPr wrap="square" anchor="t" lIns="0" rIns="0" tIns="0" bIns="0">
            <a:spAutoFit/>
          </a:bodyPr>
          <a:lstStyle/>
          <a:p>
            <a:pPr algn="ctr">
              <a:lnSpc>
                <a:spcPct val="100000"/>
              </a:lnSpc>
              <a:spcBef>
                <a:spcPts val="0"/>
              </a:spcBef>
              <a:spcAft>
                <a:spcPts val="400"/>
              </a:spcAft>
            </a:pPr>
            <a:r>
              <a:rPr sz="1400" b="1" i="0">
                <a:solidFill>
                  <a:srgbClr val="FFFFFF"/>
                </a:solidFill>
                <a:latin typeface="Calibri"/>
              </a:rPr>
              <a:t>map.rccd.edu  ·  creditforbeingyou.org  ·  MAP@rccd.edu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